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96" r:id="rId5"/>
    <p:sldId id="297" r:id="rId6"/>
    <p:sldId id="286" r:id="rId7"/>
    <p:sldId id="302" r:id="rId8"/>
    <p:sldId id="285" r:id="rId9"/>
    <p:sldId id="265" r:id="rId10"/>
    <p:sldId id="262" r:id="rId11"/>
    <p:sldId id="278" r:id="rId12"/>
    <p:sldId id="267" r:id="rId13"/>
    <p:sldId id="2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1D51"/>
    <a:srgbClr val="AAACAD"/>
    <a:srgbClr val="2C567A"/>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B59481-F902-CB96-DC3F-524A27F96813}" v="165" dt="2026-04-13T21:00:17.994"/>
    <p1510:client id="{BC3E3900-9299-95C6-81F2-BFC008B61D81}" v="834" dt="2026-04-13T20:39:24.737"/>
  </p1510:revLst>
</p1510:revInfo>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386" autoAdjust="0"/>
  </p:normalViewPr>
  <p:slideViewPr>
    <p:cSldViewPr snapToGrid="0" showGuides="1">
      <p:cViewPr varScale="1">
        <p:scale>
          <a:sx n="64" d="100"/>
          <a:sy n="64" d="100"/>
        </p:scale>
        <p:origin x="1426" y="5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4/14/2026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4/14/2026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my partner Badr and I will present our project on Autonomous Navigation: Colored Cone Detection using the YOLOv8 architecture. We will discuss how we built a robust vision system capable of high-precision detection despite significant environmental constraints."</a:t>
            </a:r>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objective was to detect and classify three specific navigation cones—Blue, Green, and Orange. The primary challenge we faced was the data constraint: we only had 114 training images. In deep learning, this is a very small number. To solve this, we used Transfer Learning with the YOLOv8-Nano model, leveraging weights pretrained on the COCO dataset to give our model a 'head start' in recognizing shapes and edges."</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2</a:t>
            </a:fld>
            <a:endParaRPr lang="en-US" noProof="0" dirty="0"/>
          </a:p>
        </p:txBody>
      </p:sp>
    </p:spTree>
    <p:extLst>
      <p:ext uri="{BB962C8B-B14F-4D97-AF65-F5344CB8AC3E}">
        <p14:creationId xmlns:p14="http://schemas.microsoft.com/office/powerpoint/2010/main" val="31116153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captured a total of 152 images using a smartphone. Our environment was complex, featuring varied indoor backgrounds and challenging surfaces like jackets, laptops, and a speckled floor that often confuses AI models. To ensure the model was robust, we captured the cones in diverse poses—angled, upside down, and even partially hidden—at distances ranging from close-ups to four meters."</a:t>
            </a:r>
            <a:endParaRPr lang="en-IN"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3</a:t>
            </a:fld>
            <a:endParaRPr lang="en-US" noProof="0" dirty="0"/>
          </a:p>
        </p:txBody>
      </p:sp>
    </p:spTree>
    <p:extLst>
      <p:ext uri="{BB962C8B-B14F-4D97-AF65-F5344CB8AC3E}">
        <p14:creationId xmlns:p14="http://schemas.microsoft.com/office/powerpoint/2010/main" val="2587421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annotation, we used </a:t>
            </a:r>
            <a:r>
              <a:rPr lang="en-US" dirty="0" err="1"/>
              <a:t>Roboflow</a:t>
            </a:r>
            <a:r>
              <a:rPr lang="en-US" dirty="0"/>
              <a:t> to draw tight bounding boxes around each cone. Consistency was our priority here; we ensured that the labels were tight to the object boundaries to help the model learn the exact geometry of the cones, which is critical for the localization tasks we’ll see in our results."</a:t>
            </a:r>
            <a:endParaRPr lang="en-IN"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4</a:t>
            </a:fld>
            <a:endParaRPr lang="en-US" noProof="0" dirty="0"/>
          </a:p>
        </p:txBody>
      </p:sp>
    </p:spTree>
    <p:extLst>
      <p:ext uri="{BB962C8B-B14F-4D97-AF65-F5344CB8AC3E}">
        <p14:creationId xmlns:p14="http://schemas.microsoft.com/office/powerpoint/2010/main" val="2119757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critical part of our pipeline. Since our dataset was small, we used 'Torture Test' augmentations. We applied 180-degree rotations to handle upside-down cones and 100% Mosaic augmentation—which stitches four images into one—to force the model to find objects in cluttered scenes. We also used heavy Hue and Saturation shifts so the model would learn the </a:t>
            </a:r>
            <a:r>
              <a:rPr lang="en-US" i="1" dirty="0"/>
              <a:t>shape</a:t>
            </a:r>
            <a:r>
              <a:rPr lang="en-US" dirty="0"/>
              <a:t> of the cone rather than just a specific shade of color."</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5</a:t>
            </a:fld>
            <a:endParaRPr lang="en-US" noProof="0" dirty="0"/>
          </a:p>
        </p:txBody>
      </p:sp>
    </p:spTree>
    <p:extLst>
      <p:ext uri="{BB962C8B-B14F-4D97-AF65-F5344CB8AC3E}">
        <p14:creationId xmlns:p14="http://schemas.microsoft.com/office/powerpoint/2010/main" val="1304800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the model on an NVIDIA RTX 4050 Laptop GPU. We chose the </a:t>
            </a:r>
            <a:r>
              <a:rPr lang="en-US" dirty="0" err="1"/>
              <a:t>AdamW</a:t>
            </a:r>
            <a:r>
              <a:rPr lang="en-US" dirty="0"/>
              <a:t> optimizer with a learning rate of 0.01. We set the training for 150 epochs but included a 'patience' of 30, meaning if the model stopped improving for 30 rounds, the training would end to prevent overfitting. Our loss function was a combination of Box, Class, and DFL loss, ensuring the model got better at location, identification, and precision simultaneously."</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6</a:t>
            </a:fld>
            <a:endParaRPr lang="en-US" noProof="0" dirty="0"/>
          </a:p>
        </p:txBody>
      </p:sp>
    </p:spTree>
    <p:extLst>
      <p:ext uri="{BB962C8B-B14F-4D97-AF65-F5344CB8AC3E}">
        <p14:creationId xmlns:p14="http://schemas.microsoft.com/office/powerpoint/2010/main" val="1357719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our 'Evidence of Learning.' Our final validation accuracy reached 92.25%. Looking at the loss curves, you’ll notice the validation loss (in blue) tracks the training loss very closely. This is the 'Gold Standard' in training; it proves our model isn't just memorizing our photos, but is actually learning to generalize the features of the cones."</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7</a:t>
            </a:fld>
            <a:endParaRPr lang="en-US" noProof="0" dirty="0"/>
          </a:p>
        </p:txBody>
      </p:sp>
    </p:spTree>
    <p:extLst>
      <p:ext uri="{BB962C8B-B14F-4D97-AF65-F5344CB8AC3E}">
        <p14:creationId xmlns:p14="http://schemas.microsoft.com/office/powerpoint/2010/main" val="1933924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final test set, we reached a peak accuracy of 97.1%. If you look at the Normalized Confusion Matrix, the 'Background' row is nearly empty. This is a huge win—it means the model has successfully learned to ignore the speckled floor and furniture, only identifying actual cones. Our F1 Score of 94.4% shows a near-perfect balance between precision and recall."</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8</a:t>
            </a:fld>
            <a:endParaRPr lang="en-US" noProof="0" dirty="0"/>
          </a:p>
        </p:txBody>
      </p:sp>
    </p:spTree>
    <p:extLst>
      <p:ext uri="{BB962C8B-B14F-4D97-AF65-F5344CB8AC3E}">
        <p14:creationId xmlns:p14="http://schemas.microsoft.com/office/powerpoint/2010/main" val="2568393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 have developed a field-ready model for robotics. By using aggressive data augmentation and the YOLOv8 architecture, we proved that you don't need thousands of images to build a high-performing system. Our model is robust against lighting changes and background noise, making it ideal for real-time autonomous navigation. </a:t>
            </a:r>
            <a:r>
              <a:rPr lang="en-US"/>
              <a:t>Thank you, and we are now open for questions."</a:t>
            </a:r>
            <a:endParaRPr lang="en-GB"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9</a:t>
            </a:fld>
            <a:endParaRPr lang="en-US" noProof="0" dirty="0"/>
          </a:p>
        </p:txBody>
      </p:sp>
    </p:spTree>
    <p:extLst>
      <p:ext uri="{BB962C8B-B14F-4D97-AF65-F5344CB8AC3E}">
        <p14:creationId xmlns:p14="http://schemas.microsoft.com/office/powerpoint/2010/main" val="3872285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8744" y="853794"/>
            <a:ext cx="11146961" cy="2926080"/>
          </a:xfrm>
        </p:spPr>
        <p:txBody>
          <a:bodyPr anchor="b"/>
          <a:lstStyle/>
          <a:p>
            <a:r>
              <a:rPr lang="en-US" sz="4800">
                <a:solidFill>
                  <a:srgbClr val="03126A"/>
                </a:solidFill>
                <a:latin typeface="Bookman Old Style"/>
              </a:rPr>
              <a:t>Colored</a:t>
            </a:r>
            <a:r>
              <a:rPr lang="en-US" sz="4800" dirty="0">
                <a:latin typeface="Bookman Old Style"/>
              </a:rPr>
              <a:t> Cone Detection Using </a:t>
            </a:r>
            <a:r>
              <a:rPr lang="en-US" sz="4800">
                <a:latin typeface="Bookman Old Style"/>
              </a:rPr>
              <a:t>YOLOv8</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8744" y="4428034"/>
            <a:ext cx="10954512" cy="2174784"/>
          </a:xfrm>
        </p:spPr>
        <p:txBody>
          <a:bodyPr vert="horz" lIns="91440" tIns="45720" rIns="91440" bIns="45720" rtlCol="0" anchor="t">
            <a:noAutofit/>
          </a:bodyPr>
          <a:lstStyle/>
          <a:p>
            <a:r>
              <a:rPr lang="en-US" sz="2400" b="1" dirty="0">
                <a:latin typeface="Times New Roman" panose="02020603050405020304" pitchFamily="18" charset="0"/>
                <a:cs typeface="Times New Roman" panose="02020603050405020304" pitchFamily="18" charset="0"/>
              </a:rPr>
              <a:t>Presented by</a:t>
            </a:r>
            <a:r>
              <a:rPr lang="en-US" b="1" dirty="0">
                <a:latin typeface="Times New Roman" panose="02020603050405020304" pitchFamily="18" charset="0"/>
                <a:cs typeface="Times New Roman" panose="02020603050405020304" pitchFamily="18" charset="0"/>
              </a:rPr>
              <a:t> </a:t>
            </a:r>
          </a:p>
          <a:p>
            <a:r>
              <a:rPr lang="en-US" b="1" dirty="0">
                <a:latin typeface="Book Antiqua" panose="02040602050305030304" pitchFamily="18" charset="0"/>
                <a:cs typeface="Times New Roman" panose="02020603050405020304" pitchFamily="18" charset="0"/>
              </a:rPr>
              <a:t>Badr </a:t>
            </a:r>
            <a:r>
              <a:rPr lang="en-US" b="1" dirty="0" err="1">
                <a:latin typeface="Book Antiqua" panose="02040602050305030304" pitchFamily="18" charset="0"/>
                <a:cs typeface="Times New Roman" panose="02020603050405020304" pitchFamily="18" charset="0"/>
              </a:rPr>
              <a:t>chaouch</a:t>
            </a:r>
            <a:r>
              <a:rPr lang="en-US" b="1" dirty="0">
                <a:latin typeface="Book Antiqua" panose="02040602050305030304" pitchFamily="18" charset="0"/>
                <a:cs typeface="Times New Roman" panose="02020603050405020304" pitchFamily="18" charset="0"/>
              </a:rPr>
              <a:t> </a:t>
            </a:r>
          </a:p>
          <a:p>
            <a:r>
              <a:rPr lang="en-US" b="1" dirty="0">
                <a:latin typeface="Book Antiqua" panose="02040602050305030304" pitchFamily="18" charset="0"/>
                <a:cs typeface="Times New Roman" panose="02020603050405020304" pitchFamily="18" charset="0"/>
              </a:rPr>
              <a:t>Bhanu vignesh ganeshna</a:t>
            </a:r>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E6AA7FF5-11CA-8F71-5951-B1099396287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2</a:t>
            </a:fld>
            <a:endParaRPr lang="en-US" dirty="0"/>
          </a:p>
        </p:txBody>
      </p:sp>
      <p:sp>
        <p:nvSpPr>
          <p:cNvPr id="5" name="TextBox 4">
            <a:extLst>
              <a:ext uri="{FF2B5EF4-FFF2-40B4-BE49-F238E27FC236}">
                <a16:creationId xmlns:a16="http://schemas.microsoft.com/office/drawing/2014/main" id="{0C1FBB68-21C2-03E6-D642-9AF1A98AD025}"/>
              </a:ext>
            </a:extLst>
          </p:cNvPr>
          <p:cNvSpPr txBox="1"/>
          <p:nvPr/>
        </p:nvSpPr>
        <p:spPr>
          <a:xfrm>
            <a:off x="2710970" y="1186703"/>
            <a:ext cx="6770058" cy="584775"/>
          </a:xfrm>
          <a:prstGeom prst="rect">
            <a:avLst/>
          </a:prstGeom>
          <a:noFill/>
        </p:spPr>
        <p:txBody>
          <a:bodyPr wrap="none" rtlCol="0">
            <a:spAutoFit/>
          </a:bodyPr>
          <a:lstStyle/>
          <a:p>
            <a:r>
              <a:rPr lang="en-IN" sz="3200" b="1" dirty="0">
                <a:solidFill>
                  <a:schemeClr val="accent2">
                    <a:lumMod val="25000"/>
                  </a:schemeClr>
                </a:solidFill>
              </a:rPr>
              <a:t>PROBLEM STATEMENT &amp; OBJECTIVE</a:t>
            </a:r>
          </a:p>
        </p:txBody>
      </p:sp>
      <p:graphicFrame>
        <p:nvGraphicFramePr>
          <p:cNvPr id="6" name="Table 5">
            <a:extLst>
              <a:ext uri="{FF2B5EF4-FFF2-40B4-BE49-F238E27FC236}">
                <a16:creationId xmlns:a16="http://schemas.microsoft.com/office/drawing/2014/main" id="{3384594A-3442-2B7F-85C4-DD1C4B1915A9}"/>
              </a:ext>
            </a:extLst>
          </p:cNvPr>
          <p:cNvGraphicFramePr>
            <a:graphicFrameLocks noGrp="1"/>
          </p:cNvGraphicFramePr>
          <p:nvPr>
            <p:extLst>
              <p:ext uri="{D42A27DB-BD31-4B8C-83A1-F6EECF244321}">
                <p14:modId xmlns:p14="http://schemas.microsoft.com/office/powerpoint/2010/main" val="277903956"/>
              </p:ext>
            </p:extLst>
          </p:nvPr>
        </p:nvGraphicFramePr>
        <p:xfrm>
          <a:off x="1507819" y="2271343"/>
          <a:ext cx="9239693" cy="2378534"/>
        </p:xfrm>
        <a:graphic>
          <a:graphicData uri="http://schemas.openxmlformats.org/drawingml/2006/table">
            <a:tbl>
              <a:tblPr firstRow="1" bandRow="1">
                <a:tableStyleId>{0E3FDE45-AF77-4B5C-9715-49D594BDF05E}</a:tableStyleId>
              </a:tblPr>
              <a:tblGrid>
                <a:gridCol w="2547608">
                  <a:extLst>
                    <a:ext uri="{9D8B030D-6E8A-4147-A177-3AD203B41FA5}">
                      <a16:colId xmlns:a16="http://schemas.microsoft.com/office/drawing/2014/main" val="1413160248"/>
                    </a:ext>
                  </a:extLst>
                </a:gridCol>
                <a:gridCol w="6692085">
                  <a:extLst>
                    <a:ext uri="{9D8B030D-6E8A-4147-A177-3AD203B41FA5}">
                      <a16:colId xmlns:a16="http://schemas.microsoft.com/office/drawing/2014/main" val="3821264945"/>
                    </a:ext>
                  </a:extLst>
                </a:gridCol>
              </a:tblGrid>
              <a:tr h="856702">
                <a:tc>
                  <a:txBody>
                    <a:bodyPr/>
                    <a:lstStyle/>
                    <a:p>
                      <a:r>
                        <a:rPr lang="en-US" sz="3200" dirty="0">
                          <a:solidFill>
                            <a:schemeClr val="accent2">
                              <a:lumMod val="25000"/>
                            </a:schemeClr>
                          </a:solidFill>
                        </a:rPr>
                        <a:t>GOAL </a:t>
                      </a:r>
                      <a:endParaRPr lang="en-IN" sz="3200" dirty="0">
                        <a:solidFill>
                          <a:schemeClr val="accent2">
                            <a:lumMod val="25000"/>
                          </a:schemeClr>
                        </a:solidFill>
                      </a:endParaRPr>
                    </a:p>
                  </a:txBody>
                  <a:tcPr/>
                </a:tc>
                <a:tc>
                  <a:txBody>
                    <a:bodyPr/>
                    <a:lstStyle/>
                    <a:p>
                      <a:pPr marL="0" marR="0" lvl="0" indent="0" algn="l">
                        <a:lnSpc>
                          <a:spcPct val="100000"/>
                        </a:lnSpc>
                        <a:spcBef>
                          <a:spcPts val="0"/>
                        </a:spcBef>
                        <a:spcAft>
                          <a:spcPts val="0"/>
                        </a:spcAft>
                        <a:buNone/>
                      </a:pPr>
                      <a:r>
                        <a:rPr lang="en-US" sz="2400" b="1" i="0" u="none" strike="noStrike" baseline="0" noProof="0">
                          <a:solidFill>
                            <a:srgbClr val="03126A"/>
                          </a:solidFill>
                          <a:latin typeface="Aptos"/>
                        </a:rPr>
                        <a:t>Detect &amp; classify colored cones (Blue / Green / Orange)</a:t>
                      </a:r>
                    </a:p>
                  </a:txBody>
                  <a:tcPr/>
                </a:tc>
                <a:extLst>
                  <a:ext uri="{0D108BD9-81ED-4DB2-BD59-A6C34878D82A}">
                    <a16:rowId xmlns:a16="http://schemas.microsoft.com/office/drawing/2014/main" val="2674274719"/>
                  </a:ext>
                </a:extLst>
              </a:tr>
              <a:tr h="698872">
                <a:tc>
                  <a:txBody>
                    <a:bodyPr/>
                    <a:lstStyle/>
                    <a:p>
                      <a:r>
                        <a:rPr lang="en-IN" sz="3200" b="1" dirty="0">
                          <a:solidFill>
                            <a:schemeClr val="accent2">
                              <a:lumMod val="25000"/>
                            </a:schemeClr>
                          </a:solidFill>
                        </a:rPr>
                        <a:t>CHALLENGE</a:t>
                      </a:r>
                    </a:p>
                  </a:txBody>
                  <a:tcPr/>
                </a:tc>
                <a:tc>
                  <a:txBody>
                    <a:bodyPr/>
                    <a:lstStyle/>
                    <a:p>
                      <a:pPr lvl="0">
                        <a:buNone/>
                      </a:pPr>
                      <a:r>
                        <a:rPr lang="en-IN" sz="2400" b="1" i="0" u="none" strike="noStrike" baseline="0" noProof="0">
                          <a:solidFill>
                            <a:srgbClr val="03126A"/>
                          </a:solidFill>
                          <a:latin typeface="Aptos"/>
                        </a:rPr>
                        <a:t>Limited dataset (114 training images)</a:t>
                      </a:r>
                    </a:p>
                  </a:txBody>
                  <a:tcPr/>
                </a:tc>
                <a:extLst>
                  <a:ext uri="{0D108BD9-81ED-4DB2-BD59-A6C34878D82A}">
                    <a16:rowId xmlns:a16="http://schemas.microsoft.com/office/drawing/2014/main" val="318278412"/>
                  </a:ext>
                </a:extLst>
              </a:tr>
              <a:tr h="698872">
                <a:tc>
                  <a:txBody>
                    <a:bodyPr/>
                    <a:lstStyle/>
                    <a:p>
                      <a:r>
                        <a:rPr lang="en-IN" sz="3200" b="1" dirty="0">
                          <a:solidFill>
                            <a:schemeClr val="accent2">
                              <a:lumMod val="25000"/>
                            </a:schemeClr>
                          </a:solidFill>
                        </a:rPr>
                        <a:t>SOLUTION</a:t>
                      </a:r>
                    </a:p>
                  </a:txBody>
                  <a:tcPr/>
                </a:tc>
                <a:tc>
                  <a:txBody>
                    <a:bodyPr/>
                    <a:lstStyle/>
                    <a:p>
                      <a:pPr lvl="0">
                        <a:buNone/>
                      </a:pPr>
                      <a:r>
                        <a:rPr lang="en-US" sz="2400" b="1" i="0" u="none" strike="noStrike" baseline="0" noProof="0">
                          <a:solidFill>
                            <a:srgbClr val="03126A"/>
                          </a:solidFill>
                          <a:latin typeface="Aptos"/>
                        </a:rPr>
                        <a:t>Transfer learning with YOLOv8n (pretrained on COCO)</a:t>
                      </a:r>
                      <a:endParaRPr lang="en-US"/>
                    </a:p>
                  </a:txBody>
                  <a:tcPr/>
                </a:tc>
                <a:extLst>
                  <a:ext uri="{0D108BD9-81ED-4DB2-BD59-A6C34878D82A}">
                    <a16:rowId xmlns:a16="http://schemas.microsoft.com/office/drawing/2014/main" val="344470867"/>
                  </a:ext>
                </a:extLst>
              </a:tr>
            </a:tbl>
          </a:graphicData>
        </a:graphic>
      </p:graphicFrame>
    </p:spTree>
    <p:extLst>
      <p:ext uri="{BB962C8B-B14F-4D97-AF65-F5344CB8AC3E}">
        <p14:creationId xmlns:p14="http://schemas.microsoft.com/office/powerpoint/2010/main" val="3018507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877824" y="446567"/>
            <a:ext cx="10460736" cy="999460"/>
          </a:xfrm>
          <a:noFill/>
        </p:spPr>
        <p:txBody>
          <a:bodyPr>
            <a:noAutofit/>
          </a:bodyPr>
          <a:lstStyle/>
          <a:p>
            <a:r>
              <a:rPr lang="en-US" dirty="0"/>
              <a:t>Dataset Overview</a:t>
            </a:r>
          </a:p>
        </p:txBody>
      </p:sp>
      <p:graphicFrame>
        <p:nvGraphicFramePr>
          <p:cNvPr id="5" name="Table 4">
            <a:extLst>
              <a:ext uri="{FF2B5EF4-FFF2-40B4-BE49-F238E27FC236}">
                <a16:creationId xmlns:a16="http://schemas.microsoft.com/office/drawing/2014/main" id="{D173C051-FE3D-473B-2865-969C452F6BA4}"/>
              </a:ext>
            </a:extLst>
          </p:cNvPr>
          <p:cNvGraphicFramePr>
            <a:graphicFrameLocks noGrp="1"/>
          </p:cNvGraphicFramePr>
          <p:nvPr>
            <p:extLst>
              <p:ext uri="{D42A27DB-BD31-4B8C-83A1-F6EECF244321}">
                <p14:modId xmlns:p14="http://schemas.microsoft.com/office/powerpoint/2010/main" val="2151377318"/>
              </p:ext>
            </p:extLst>
          </p:nvPr>
        </p:nvGraphicFramePr>
        <p:xfrm>
          <a:off x="457354" y="2597571"/>
          <a:ext cx="5977424" cy="2286000"/>
        </p:xfrm>
        <a:graphic>
          <a:graphicData uri="http://schemas.openxmlformats.org/drawingml/2006/table">
            <a:tbl>
              <a:tblPr firstRow="1" bandRow="1">
                <a:tableStyleId>{0E3FDE45-AF77-4B5C-9715-49D594BDF05E}</a:tableStyleId>
              </a:tblPr>
              <a:tblGrid>
                <a:gridCol w="1948158">
                  <a:extLst>
                    <a:ext uri="{9D8B030D-6E8A-4147-A177-3AD203B41FA5}">
                      <a16:colId xmlns:a16="http://schemas.microsoft.com/office/drawing/2014/main" val="3828070726"/>
                    </a:ext>
                  </a:extLst>
                </a:gridCol>
                <a:gridCol w="4029266">
                  <a:extLst>
                    <a:ext uri="{9D8B030D-6E8A-4147-A177-3AD203B41FA5}">
                      <a16:colId xmlns:a16="http://schemas.microsoft.com/office/drawing/2014/main" val="2845362545"/>
                    </a:ext>
                  </a:extLst>
                </a:gridCol>
              </a:tblGrid>
              <a:tr h="370840">
                <a:tc>
                  <a:txBody>
                    <a:bodyPr/>
                    <a:lstStyle/>
                    <a:p>
                      <a:r>
                        <a:rPr lang="en-IN" sz="2000" b="1" dirty="0">
                          <a:solidFill>
                            <a:schemeClr val="accent2">
                              <a:lumMod val="25000"/>
                            </a:schemeClr>
                          </a:solidFill>
                        </a:rPr>
                        <a:t>Total images</a:t>
                      </a:r>
                    </a:p>
                  </a:txBody>
                  <a:tcPr/>
                </a:tc>
                <a:tc>
                  <a:txBody>
                    <a:bodyPr/>
                    <a:lstStyle/>
                    <a:p>
                      <a:r>
                        <a:rPr lang="en-IN" sz="2000" b="0"/>
                        <a:t>152 images</a:t>
                      </a:r>
                      <a:endParaRPr lang="en-IN" sz="2000" b="0" dirty="0"/>
                    </a:p>
                  </a:txBody>
                  <a:tcPr/>
                </a:tc>
                <a:extLst>
                  <a:ext uri="{0D108BD9-81ED-4DB2-BD59-A6C34878D82A}">
                    <a16:rowId xmlns:a16="http://schemas.microsoft.com/office/drawing/2014/main" val="2930458827"/>
                  </a:ext>
                </a:extLst>
              </a:tr>
              <a:tr h="370839">
                <a:tc>
                  <a:txBody>
                    <a:bodyPr/>
                    <a:lstStyle/>
                    <a:p>
                      <a:pPr lvl="0">
                        <a:buNone/>
                      </a:pPr>
                      <a:r>
                        <a:rPr lang="en-IN" sz="2000" b="1">
                          <a:solidFill>
                            <a:schemeClr val="accent2">
                              <a:lumMod val="25000"/>
                            </a:schemeClr>
                          </a:solidFill>
                        </a:rPr>
                        <a:t>Dataset Split</a:t>
                      </a:r>
                      <a:endParaRPr lang="en-IN" sz="2000" b="1" dirty="0">
                        <a:solidFill>
                          <a:schemeClr val="accent2">
                            <a:lumMod val="25000"/>
                          </a:schemeClr>
                        </a:solidFill>
                      </a:endParaRPr>
                    </a:p>
                  </a:txBody>
                  <a:tcPr/>
                </a:tc>
                <a:tc>
                  <a:txBody>
                    <a:bodyPr/>
                    <a:lstStyle/>
                    <a:p>
                      <a:pPr lvl="0">
                        <a:buNone/>
                      </a:pPr>
                      <a:r>
                        <a:rPr lang="en-IN" sz="2000" b="0" dirty="0"/>
                        <a:t>Train (114), </a:t>
                      </a:r>
                      <a:r>
                        <a:rPr lang="en-IN" sz="2000" b="0" dirty="0" err="1"/>
                        <a:t>val</a:t>
                      </a:r>
                      <a:r>
                        <a:rPr lang="en-IN" sz="2000" b="0" dirty="0"/>
                        <a:t> (22), and test (16)</a:t>
                      </a:r>
                    </a:p>
                  </a:txBody>
                  <a:tcPr/>
                </a:tc>
                <a:extLst>
                  <a:ext uri="{0D108BD9-81ED-4DB2-BD59-A6C34878D82A}">
                    <a16:rowId xmlns:a16="http://schemas.microsoft.com/office/drawing/2014/main" val="1644672179"/>
                  </a:ext>
                </a:extLst>
              </a:tr>
              <a:tr h="370840">
                <a:tc>
                  <a:txBody>
                    <a:bodyPr/>
                    <a:lstStyle/>
                    <a:p>
                      <a:r>
                        <a:rPr lang="en-IN" sz="2000" b="1" dirty="0">
                          <a:solidFill>
                            <a:schemeClr val="accent2">
                              <a:lumMod val="25000"/>
                            </a:schemeClr>
                          </a:solidFill>
                        </a:rPr>
                        <a:t>Capture device</a:t>
                      </a:r>
                    </a:p>
                  </a:txBody>
                  <a:tcPr/>
                </a:tc>
                <a:tc>
                  <a:txBody>
                    <a:bodyPr/>
                    <a:lstStyle/>
                    <a:p>
                      <a:r>
                        <a:rPr lang="en-IN" sz="2000" dirty="0"/>
                        <a:t>Smartphone</a:t>
                      </a:r>
                    </a:p>
                  </a:txBody>
                  <a:tcPr/>
                </a:tc>
                <a:extLst>
                  <a:ext uri="{0D108BD9-81ED-4DB2-BD59-A6C34878D82A}">
                    <a16:rowId xmlns:a16="http://schemas.microsoft.com/office/drawing/2014/main" val="4213367953"/>
                  </a:ext>
                </a:extLst>
              </a:tr>
              <a:tr h="370840">
                <a:tc>
                  <a:txBody>
                    <a:bodyPr/>
                    <a:lstStyle/>
                    <a:p>
                      <a:r>
                        <a:rPr lang="en-IN" sz="2000" b="1" dirty="0">
                          <a:solidFill>
                            <a:schemeClr val="accent2">
                              <a:lumMod val="25000"/>
                            </a:schemeClr>
                          </a:solidFill>
                        </a:rPr>
                        <a:t>Environment</a:t>
                      </a:r>
                    </a:p>
                  </a:txBody>
                  <a:tcPr/>
                </a:tc>
                <a:tc>
                  <a:txBody>
                    <a:bodyPr/>
                    <a:lstStyle/>
                    <a:p>
                      <a:r>
                        <a:rPr lang="en-IN" sz="2000" dirty="0"/>
                        <a:t>Indoor with varied backgrounds</a:t>
                      </a:r>
                    </a:p>
                  </a:txBody>
                  <a:tcPr/>
                </a:tc>
                <a:extLst>
                  <a:ext uri="{0D108BD9-81ED-4DB2-BD59-A6C34878D82A}">
                    <a16:rowId xmlns:a16="http://schemas.microsoft.com/office/drawing/2014/main" val="676252785"/>
                  </a:ext>
                </a:extLst>
              </a:tr>
              <a:tr h="370840">
                <a:tc>
                  <a:txBody>
                    <a:bodyPr/>
                    <a:lstStyle/>
                    <a:p>
                      <a:r>
                        <a:rPr lang="en-IN" sz="2000" b="1" dirty="0">
                          <a:solidFill>
                            <a:schemeClr val="accent2">
                              <a:lumMod val="25000"/>
                            </a:schemeClr>
                          </a:solidFill>
                        </a:rPr>
                        <a:t>Surfaces</a:t>
                      </a:r>
                    </a:p>
                  </a:txBody>
                  <a:tcPr/>
                </a:tc>
                <a:tc>
                  <a:txBody>
                    <a:bodyPr/>
                    <a:lstStyle/>
                    <a:p>
                      <a:r>
                        <a:rPr lang="en-IN" sz="2000" dirty="0"/>
                        <a:t>Bags, Jacket, Laptop, Wood table, and also the floor</a:t>
                      </a:r>
                    </a:p>
                  </a:txBody>
                  <a:tcPr/>
                </a:tc>
                <a:extLst>
                  <a:ext uri="{0D108BD9-81ED-4DB2-BD59-A6C34878D82A}">
                    <a16:rowId xmlns:a16="http://schemas.microsoft.com/office/drawing/2014/main" val="2510712565"/>
                  </a:ext>
                </a:extLst>
              </a:tr>
            </a:tbl>
          </a:graphicData>
        </a:graphic>
      </p:graphicFrame>
      <p:sp>
        <p:nvSpPr>
          <p:cNvPr id="6" name="TextBox 5">
            <a:extLst>
              <a:ext uri="{FF2B5EF4-FFF2-40B4-BE49-F238E27FC236}">
                <a16:creationId xmlns:a16="http://schemas.microsoft.com/office/drawing/2014/main" id="{4F38FA1A-CC7F-98F4-DF98-20FE2231DF32}"/>
              </a:ext>
            </a:extLst>
          </p:cNvPr>
          <p:cNvSpPr txBox="1"/>
          <p:nvPr/>
        </p:nvSpPr>
        <p:spPr>
          <a:xfrm>
            <a:off x="1958704" y="2049751"/>
            <a:ext cx="2974725" cy="584775"/>
          </a:xfrm>
          <a:prstGeom prst="rect">
            <a:avLst/>
          </a:prstGeom>
          <a:noFill/>
          <a:ln>
            <a:noFill/>
          </a:ln>
        </p:spPr>
        <p:txBody>
          <a:bodyPr wrap="none" rtlCol="0">
            <a:spAutoFit/>
          </a:bodyPr>
          <a:lstStyle/>
          <a:p>
            <a:r>
              <a:rPr lang="en-IN" sz="2800" b="1" dirty="0">
                <a:solidFill>
                  <a:schemeClr val="accent2">
                    <a:lumMod val="25000"/>
                  </a:schemeClr>
                </a:solidFill>
              </a:rPr>
              <a:t>Dataset</a:t>
            </a:r>
            <a:r>
              <a:rPr lang="en-IN" sz="3200" b="1" dirty="0">
                <a:solidFill>
                  <a:schemeClr val="accent2">
                    <a:lumMod val="25000"/>
                  </a:schemeClr>
                </a:solidFill>
              </a:rPr>
              <a:t> </a:t>
            </a:r>
            <a:r>
              <a:rPr lang="en-IN" sz="2800" b="1" dirty="0">
                <a:solidFill>
                  <a:schemeClr val="accent2">
                    <a:lumMod val="25000"/>
                  </a:schemeClr>
                </a:solidFill>
              </a:rPr>
              <a:t>Creation</a:t>
            </a:r>
            <a:endParaRPr lang="en-IN" sz="3200" b="1" dirty="0">
              <a:solidFill>
                <a:schemeClr val="accent2">
                  <a:lumMod val="25000"/>
                </a:schemeClr>
              </a:solidFill>
            </a:endParaRPr>
          </a:p>
        </p:txBody>
      </p:sp>
      <p:sp>
        <p:nvSpPr>
          <p:cNvPr id="7" name="TextBox 6">
            <a:extLst>
              <a:ext uri="{FF2B5EF4-FFF2-40B4-BE49-F238E27FC236}">
                <a16:creationId xmlns:a16="http://schemas.microsoft.com/office/drawing/2014/main" id="{EF1AFEEC-E752-E562-2CCF-47B51F929577}"/>
              </a:ext>
            </a:extLst>
          </p:cNvPr>
          <p:cNvSpPr txBox="1"/>
          <p:nvPr/>
        </p:nvSpPr>
        <p:spPr>
          <a:xfrm>
            <a:off x="7824334" y="2074351"/>
            <a:ext cx="3198311" cy="523220"/>
          </a:xfrm>
          <a:prstGeom prst="rect">
            <a:avLst/>
          </a:prstGeom>
          <a:noFill/>
        </p:spPr>
        <p:txBody>
          <a:bodyPr wrap="none" rtlCol="0">
            <a:spAutoFit/>
          </a:bodyPr>
          <a:lstStyle/>
          <a:p>
            <a:r>
              <a:rPr lang="en-IN" sz="2800" b="1" dirty="0">
                <a:solidFill>
                  <a:schemeClr val="accent2">
                    <a:lumMod val="25000"/>
                  </a:schemeClr>
                </a:solidFill>
              </a:rPr>
              <a:t>Dataset Variations</a:t>
            </a:r>
          </a:p>
        </p:txBody>
      </p:sp>
      <p:graphicFrame>
        <p:nvGraphicFramePr>
          <p:cNvPr id="8" name="Table 7">
            <a:extLst>
              <a:ext uri="{FF2B5EF4-FFF2-40B4-BE49-F238E27FC236}">
                <a16:creationId xmlns:a16="http://schemas.microsoft.com/office/drawing/2014/main" id="{4C64CAFD-7C5C-F0DE-48D1-3E2B6E7955DD}"/>
              </a:ext>
            </a:extLst>
          </p:cNvPr>
          <p:cNvGraphicFramePr>
            <a:graphicFrameLocks noGrp="1"/>
          </p:cNvGraphicFramePr>
          <p:nvPr>
            <p:extLst>
              <p:ext uri="{D42A27DB-BD31-4B8C-83A1-F6EECF244321}">
                <p14:modId xmlns:p14="http://schemas.microsoft.com/office/powerpoint/2010/main" val="1965756969"/>
              </p:ext>
            </p:extLst>
          </p:nvPr>
        </p:nvGraphicFramePr>
        <p:xfrm>
          <a:off x="6656599" y="2584590"/>
          <a:ext cx="5299865" cy="1584960"/>
        </p:xfrm>
        <a:graphic>
          <a:graphicData uri="http://schemas.openxmlformats.org/drawingml/2006/table">
            <a:tbl>
              <a:tblPr firstRow="1" bandRow="1">
                <a:tableStyleId>{0E3FDE45-AF77-4B5C-9715-49D594BDF05E}</a:tableStyleId>
              </a:tblPr>
              <a:tblGrid>
                <a:gridCol w="1515592">
                  <a:extLst>
                    <a:ext uri="{9D8B030D-6E8A-4147-A177-3AD203B41FA5}">
                      <a16:colId xmlns:a16="http://schemas.microsoft.com/office/drawing/2014/main" val="3978311349"/>
                    </a:ext>
                  </a:extLst>
                </a:gridCol>
                <a:gridCol w="3784273">
                  <a:extLst>
                    <a:ext uri="{9D8B030D-6E8A-4147-A177-3AD203B41FA5}">
                      <a16:colId xmlns:a16="http://schemas.microsoft.com/office/drawing/2014/main" val="3435354628"/>
                    </a:ext>
                  </a:extLst>
                </a:gridCol>
              </a:tblGrid>
              <a:tr h="338463">
                <a:tc>
                  <a:txBody>
                    <a:bodyPr/>
                    <a:lstStyle/>
                    <a:p>
                      <a:r>
                        <a:rPr lang="en-IN" sz="2000" b="1" dirty="0">
                          <a:solidFill>
                            <a:schemeClr val="accent2">
                              <a:lumMod val="25000"/>
                            </a:schemeClr>
                          </a:solidFill>
                        </a:rPr>
                        <a:t>Poses</a:t>
                      </a:r>
                    </a:p>
                  </a:txBody>
                  <a:tcPr/>
                </a:tc>
                <a:tc>
                  <a:txBody>
                    <a:bodyPr/>
                    <a:lstStyle/>
                    <a:p>
                      <a:r>
                        <a:rPr lang="en-US" b="0" dirty="0"/>
                        <a:t>Front, side, angled, upside down</a:t>
                      </a:r>
                      <a:endParaRPr lang="en-IN" b="0" dirty="0"/>
                    </a:p>
                  </a:txBody>
                  <a:tcPr/>
                </a:tc>
                <a:extLst>
                  <a:ext uri="{0D108BD9-81ED-4DB2-BD59-A6C34878D82A}">
                    <a16:rowId xmlns:a16="http://schemas.microsoft.com/office/drawing/2014/main" val="1613262699"/>
                  </a:ext>
                </a:extLst>
              </a:tr>
              <a:tr h="338463">
                <a:tc>
                  <a:txBody>
                    <a:bodyPr/>
                    <a:lstStyle/>
                    <a:p>
                      <a:r>
                        <a:rPr lang="en-IN" sz="2000" b="1" dirty="0">
                          <a:solidFill>
                            <a:schemeClr val="accent2">
                              <a:lumMod val="25000"/>
                            </a:schemeClr>
                          </a:solidFill>
                        </a:rPr>
                        <a:t>Framing</a:t>
                      </a:r>
                    </a:p>
                  </a:txBody>
                  <a:tcPr/>
                </a:tc>
                <a:tc>
                  <a:txBody>
                    <a:bodyPr/>
                    <a:lstStyle/>
                    <a:p>
                      <a:r>
                        <a:rPr lang="en-US"/>
                        <a:t>Full, hidden, partial</a:t>
                      </a:r>
                      <a:endParaRPr lang="en-IN" dirty="0"/>
                    </a:p>
                  </a:txBody>
                  <a:tcPr/>
                </a:tc>
                <a:extLst>
                  <a:ext uri="{0D108BD9-81ED-4DB2-BD59-A6C34878D82A}">
                    <a16:rowId xmlns:a16="http://schemas.microsoft.com/office/drawing/2014/main" val="2016974185"/>
                  </a:ext>
                </a:extLst>
              </a:tr>
              <a:tr h="338463">
                <a:tc>
                  <a:txBody>
                    <a:bodyPr/>
                    <a:lstStyle/>
                    <a:p>
                      <a:r>
                        <a:rPr lang="en-IN" sz="2000" b="1" dirty="0">
                          <a:solidFill>
                            <a:schemeClr val="accent2">
                              <a:lumMod val="25000"/>
                            </a:schemeClr>
                          </a:solidFill>
                        </a:rPr>
                        <a:t>Lighting</a:t>
                      </a:r>
                      <a:r>
                        <a:rPr lang="en-IN" sz="2000" dirty="0">
                          <a:solidFill>
                            <a:schemeClr val="accent2">
                              <a:lumMod val="25000"/>
                            </a:schemeClr>
                          </a:solidFill>
                        </a:rPr>
                        <a:t>	</a:t>
                      </a:r>
                    </a:p>
                  </a:txBody>
                  <a:tcPr/>
                </a:tc>
                <a:tc>
                  <a:txBody>
                    <a:bodyPr/>
                    <a:lstStyle/>
                    <a:p>
                      <a:r>
                        <a:rPr lang="en-IN" dirty="0"/>
                        <a:t>Bright, dim, shadow, mixed</a:t>
                      </a:r>
                    </a:p>
                  </a:txBody>
                  <a:tcPr/>
                </a:tc>
                <a:extLst>
                  <a:ext uri="{0D108BD9-81ED-4DB2-BD59-A6C34878D82A}">
                    <a16:rowId xmlns:a16="http://schemas.microsoft.com/office/drawing/2014/main" val="1696137098"/>
                  </a:ext>
                </a:extLst>
              </a:tr>
              <a:tr h="374713">
                <a:tc>
                  <a:txBody>
                    <a:bodyPr/>
                    <a:lstStyle/>
                    <a:p>
                      <a:r>
                        <a:rPr lang="en-IN" sz="2000" b="1" dirty="0">
                          <a:solidFill>
                            <a:schemeClr val="accent2">
                              <a:lumMod val="25000"/>
                            </a:schemeClr>
                          </a:solidFill>
                        </a:rPr>
                        <a:t>Distance</a:t>
                      </a:r>
                      <a:endParaRPr lang="en-IN" sz="2000" dirty="0">
                        <a:solidFill>
                          <a:schemeClr val="accent2">
                            <a:lumMod val="25000"/>
                          </a:schemeClr>
                        </a:solidFill>
                      </a:endParaRPr>
                    </a:p>
                  </a:txBody>
                  <a:tcPr/>
                </a:tc>
                <a:tc>
                  <a:txBody>
                    <a:bodyPr/>
                    <a:lstStyle/>
                    <a:p>
                      <a:r>
                        <a:rPr lang="en-IN" dirty="0"/>
                        <a:t>Close-up, medium, far</a:t>
                      </a:r>
                    </a:p>
                  </a:txBody>
                  <a:tcPr/>
                </a:tc>
                <a:extLst>
                  <a:ext uri="{0D108BD9-81ED-4DB2-BD59-A6C34878D82A}">
                    <a16:rowId xmlns:a16="http://schemas.microsoft.com/office/drawing/2014/main" val="875227554"/>
                  </a:ext>
                </a:extLst>
              </a:tr>
            </a:tbl>
          </a:graphicData>
        </a:graphic>
      </p:graphicFrame>
    </p:spTree>
    <p:extLst>
      <p:ext uri="{BB962C8B-B14F-4D97-AF65-F5344CB8AC3E}">
        <p14:creationId xmlns:p14="http://schemas.microsoft.com/office/powerpoint/2010/main" val="11850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4E69-F36B-7B1F-24C8-6CA67B142AFA}"/>
              </a:ext>
            </a:extLst>
          </p:cNvPr>
          <p:cNvSpPr>
            <a:spLocks noGrp="1"/>
          </p:cNvSpPr>
          <p:nvPr>
            <p:ph type="title"/>
          </p:nvPr>
        </p:nvSpPr>
        <p:spPr>
          <a:xfrm>
            <a:off x="2172353" y="624398"/>
            <a:ext cx="7847294" cy="979714"/>
          </a:xfrm>
        </p:spPr>
        <p:txBody>
          <a:bodyPr anchor="b">
            <a:normAutofit fontScale="90000"/>
          </a:bodyPr>
          <a:lstStyle/>
          <a:p>
            <a:r>
              <a:rPr lang="en-US" dirty="0"/>
              <a:t>Data Annotations using </a:t>
            </a:r>
            <a:r>
              <a:rPr lang="en-US" dirty="0" err="1"/>
              <a:t>Roboflow</a:t>
            </a:r>
          </a:p>
        </p:txBody>
      </p:sp>
      <p:pic>
        <p:nvPicPr>
          <p:cNvPr id="5" name="Content Placeholder 4" descr="A blue cone shaped bowl&#10;&#10;AI-generated content may be incorrect.">
            <a:extLst>
              <a:ext uri="{FF2B5EF4-FFF2-40B4-BE49-F238E27FC236}">
                <a16:creationId xmlns:a16="http://schemas.microsoft.com/office/drawing/2014/main" id="{749FCB27-73A0-FE1C-256F-C2FADDA5885A}"/>
              </a:ext>
            </a:extLst>
          </p:cNvPr>
          <p:cNvPicPr>
            <a:picLocks noGrp="1" noChangeAspect="1"/>
          </p:cNvPicPr>
          <p:nvPr>
            <p:ph idx="1"/>
          </p:nvPr>
        </p:nvPicPr>
        <p:blipFill>
          <a:blip r:embed="rId3"/>
          <a:srcRect l="1120" r="1123" b="3"/>
          <a:stretch>
            <a:fillRect/>
          </a:stretch>
        </p:blipFill>
        <p:spPr>
          <a:xfrm>
            <a:off x="1982286" y="1988806"/>
            <a:ext cx="8227428" cy="4019685"/>
          </a:xfrm>
          <a:prstGeom prst="rect">
            <a:avLst/>
          </a:prstGeom>
          <a:noFill/>
        </p:spPr>
      </p:pic>
      <p:sp>
        <p:nvSpPr>
          <p:cNvPr id="4" name="Slide Number Placeholder 3">
            <a:extLst>
              <a:ext uri="{FF2B5EF4-FFF2-40B4-BE49-F238E27FC236}">
                <a16:creationId xmlns:a16="http://schemas.microsoft.com/office/drawing/2014/main" id="{2009521E-1C58-235A-A6D2-57915F2268DF}"/>
              </a:ext>
            </a:extLst>
          </p:cNvPr>
          <p:cNvSpPr>
            <a:spLocks noGrp="1"/>
          </p:cNvSpPr>
          <p:nvPr>
            <p:ph type="sldNum" sz="quarter" idx="12"/>
          </p:nvPr>
        </p:nvSpPr>
        <p:spPr>
          <a:xfrm>
            <a:off x="9375912" y="6563001"/>
            <a:ext cx="2743200" cy="228600"/>
          </a:xfrm>
        </p:spPr>
        <p:txBody>
          <a:bodyPr anchor="ctr">
            <a:normAutofit/>
          </a:bodyPr>
          <a:lstStyle/>
          <a:p>
            <a:pPr>
              <a:lnSpc>
                <a:spcPct val="90000"/>
              </a:lnSpc>
              <a:spcAft>
                <a:spcPts val="600"/>
              </a:spcAft>
            </a:pPr>
            <a:fld id="{CBD12358-51D2-46B3-9BDE-DF29528B9454}" type="slidenum">
              <a:rPr lang="en-US" sz="900" smtClean="0"/>
              <a:pPr>
                <a:lnSpc>
                  <a:spcPct val="90000"/>
                </a:lnSpc>
                <a:spcAft>
                  <a:spcPts val="600"/>
                </a:spcAft>
              </a:pPr>
              <a:t>4</a:t>
            </a:fld>
            <a:endParaRPr lang="en-US" sz="900"/>
          </a:p>
        </p:txBody>
      </p:sp>
    </p:spTree>
    <p:extLst>
      <p:ext uri="{BB962C8B-B14F-4D97-AF65-F5344CB8AC3E}">
        <p14:creationId xmlns:p14="http://schemas.microsoft.com/office/powerpoint/2010/main" val="3370461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638839" y="372138"/>
            <a:ext cx="10914321" cy="977983"/>
          </a:xfrm>
          <a:noFill/>
        </p:spPr>
        <p:txBody>
          <a:bodyPr>
            <a:noAutofit/>
          </a:bodyPr>
          <a:lstStyle/>
          <a:p>
            <a:r>
              <a:rPr lang="en-US" dirty="0"/>
              <a:t>Preprocessing &amp; Augmentation</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1" y="1783254"/>
            <a:ext cx="3783417" cy="499944"/>
          </a:xfrm>
          <a:noFill/>
        </p:spPr>
        <p:txBody>
          <a:bodyPr>
            <a:noAutofit/>
          </a:bodyPr>
          <a:lstStyle/>
          <a:p>
            <a:r>
              <a:rPr lang="en-IN" b="1" dirty="0"/>
              <a:t>Preprocessing:- </a:t>
            </a:r>
            <a:endParaRPr lang="en-US" b="1" dirty="0"/>
          </a:p>
        </p:txBody>
      </p:sp>
      <p:graphicFrame>
        <p:nvGraphicFramePr>
          <p:cNvPr id="4" name="Table 3">
            <a:extLst>
              <a:ext uri="{FF2B5EF4-FFF2-40B4-BE49-F238E27FC236}">
                <a16:creationId xmlns:a16="http://schemas.microsoft.com/office/drawing/2014/main" id="{1C5041E3-FAF9-23F5-525E-CFBC6A64C442}"/>
              </a:ext>
            </a:extLst>
          </p:cNvPr>
          <p:cNvGraphicFramePr>
            <a:graphicFrameLocks noGrp="1"/>
          </p:cNvGraphicFramePr>
          <p:nvPr>
            <p:extLst>
              <p:ext uri="{D42A27DB-BD31-4B8C-83A1-F6EECF244321}">
                <p14:modId xmlns:p14="http://schemas.microsoft.com/office/powerpoint/2010/main" val="1348240847"/>
              </p:ext>
            </p:extLst>
          </p:nvPr>
        </p:nvGraphicFramePr>
        <p:xfrm>
          <a:off x="3783417" y="1636986"/>
          <a:ext cx="8327067" cy="792480"/>
        </p:xfrm>
        <a:graphic>
          <a:graphicData uri="http://schemas.openxmlformats.org/drawingml/2006/table">
            <a:tbl>
              <a:tblPr firstRow="1" bandRow="1">
                <a:tableStyleId>{0E3FDE45-AF77-4B5C-9715-49D594BDF05E}</a:tableStyleId>
              </a:tblPr>
              <a:tblGrid>
                <a:gridCol w="2152046">
                  <a:extLst>
                    <a:ext uri="{9D8B030D-6E8A-4147-A177-3AD203B41FA5}">
                      <a16:colId xmlns:a16="http://schemas.microsoft.com/office/drawing/2014/main" val="2878601669"/>
                    </a:ext>
                  </a:extLst>
                </a:gridCol>
                <a:gridCol w="6175021">
                  <a:extLst>
                    <a:ext uri="{9D8B030D-6E8A-4147-A177-3AD203B41FA5}">
                      <a16:colId xmlns:a16="http://schemas.microsoft.com/office/drawing/2014/main" val="3953046533"/>
                    </a:ext>
                  </a:extLst>
                </a:gridCol>
              </a:tblGrid>
              <a:tr h="370840">
                <a:tc>
                  <a:txBody>
                    <a:bodyPr/>
                    <a:lstStyle/>
                    <a:p>
                      <a:r>
                        <a:rPr lang="en-IN" sz="2000" b="1" dirty="0">
                          <a:solidFill>
                            <a:schemeClr val="accent2">
                              <a:lumMod val="25000"/>
                            </a:schemeClr>
                          </a:solidFill>
                        </a:rPr>
                        <a:t>RESIZING</a:t>
                      </a:r>
                    </a:p>
                  </a:txBody>
                  <a:tcPr/>
                </a:tc>
                <a:tc>
                  <a:txBody>
                    <a:bodyPr/>
                    <a:lstStyle/>
                    <a:p>
                      <a:r>
                        <a:rPr lang="en-US" sz="2000" b="0"/>
                        <a:t>All images to 640×640pixels (YOLO input size)</a:t>
                      </a:r>
                      <a:endParaRPr lang="en-IN" sz="2000" b="0"/>
                    </a:p>
                  </a:txBody>
                  <a:tcPr/>
                </a:tc>
                <a:extLst>
                  <a:ext uri="{0D108BD9-81ED-4DB2-BD59-A6C34878D82A}">
                    <a16:rowId xmlns:a16="http://schemas.microsoft.com/office/drawing/2014/main" val="3748620104"/>
                  </a:ext>
                </a:extLst>
              </a:tr>
              <a:tr h="370840">
                <a:tc>
                  <a:txBody>
                    <a:bodyPr/>
                    <a:lstStyle/>
                    <a:p>
                      <a:r>
                        <a:rPr lang="en-IN" sz="2000" b="1" dirty="0">
                          <a:solidFill>
                            <a:schemeClr val="accent2">
                              <a:lumMod val="25000"/>
                            </a:schemeClr>
                          </a:solidFill>
                        </a:rPr>
                        <a:t>NORMALIZATION</a:t>
                      </a:r>
                    </a:p>
                  </a:txBody>
                  <a:tcPr/>
                </a:tc>
                <a:tc>
                  <a:txBody>
                    <a:bodyPr/>
                    <a:lstStyle/>
                    <a:p>
                      <a:r>
                        <a:rPr lang="en-US" sz="2000" dirty="0"/>
                        <a:t>Pixel values scaled to [0, 1]</a:t>
                      </a:r>
                      <a:endParaRPr lang="en-IN" sz="2000" dirty="0"/>
                    </a:p>
                  </a:txBody>
                  <a:tcPr/>
                </a:tc>
                <a:extLst>
                  <a:ext uri="{0D108BD9-81ED-4DB2-BD59-A6C34878D82A}">
                    <a16:rowId xmlns:a16="http://schemas.microsoft.com/office/drawing/2014/main" val="2454593462"/>
                  </a:ext>
                </a:extLst>
              </a:tr>
            </a:tbl>
          </a:graphicData>
        </a:graphic>
      </p:graphicFrame>
      <p:sp>
        <p:nvSpPr>
          <p:cNvPr id="5" name="TextBox 4">
            <a:extLst>
              <a:ext uri="{FF2B5EF4-FFF2-40B4-BE49-F238E27FC236}">
                <a16:creationId xmlns:a16="http://schemas.microsoft.com/office/drawing/2014/main" id="{E84A4EB5-0D44-5C86-FD72-7ADFC6FBE7B0}"/>
              </a:ext>
            </a:extLst>
          </p:cNvPr>
          <p:cNvSpPr txBox="1"/>
          <p:nvPr/>
        </p:nvSpPr>
        <p:spPr>
          <a:xfrm>
            <a:off x="3656835" y="2821067"/>
            <a:ext cx="4878323" cy="461665"/>
          </a:xfrm>
          <a:prstGeom prst="rect">
            <a:avLst/>
          </a:prstGeom>
          <a:noFill/>
        </p:spPr>
        <p:txBody>
          <a:bodyPr wrap="none" rtlCol="0">
            <a:spAutoFit/>
          </a:bodyPr>
          <a:lstStyle/>
          <a:p>
            <a:r>
              <a:rPr lang="en-IN" sz="2400" b="1" dirty="0">
                <a:solidFill>
                  <a:schemeClr val="accent2">
                    <a:lumMod val="25000"/>
                  </a:schemeClr>
                </a:solidFill>
              </a:rPr>
              <a:t>Data Augmentation (Training only)</a:t>
            </a:r>
          </a:p>
        </p:txBody>
      </p:sp>
      <p:graphicFrame>
        <p:nvGraphicFramePr>
          <p:cNvPr id="6" name="Table 5">
            <a:extLst>
              <a:ext uri="{FF2B5EF4-FFF2-40B4-BE49-F238E27FC236}">
                <a16:creationId xmlns:a16="http://schemas.microsoft.com/office/drawing/2014/main" id="{5D6879A5-7B33-83DA-3DCE-4FFC9EBEC590}"/>
              </a:ext>
            </a:extLst>
          </p:cNvPr>
          <p:cNvGraphicFramePr>
            <a:graphicFrameLocks noGrp="1"/>
          </p:cNvGraphicFramePr>
          <p:nvPr>
            <p:extLst>
              <p:ext uri="{D42A27DB-BD31-4B8C-83A1-F6EECF244321}">
                <p14:modId xmlns:p14="http://schemas.microsoft.com/office/powerpoint/2010/main" val="1121006770"/>
              </p:ext>
            </p:extLst>
          </p:nvPr>
        </p:nvGraphicFramePr>
        <p:xfrm>
          <a:off x="2247599" y="3282732"/>
          <a:ext cx="7696793" cy="3444240"/>
        </p:xfrm>
        <a:graphic>
          <a:graphicData uri="http://schemas.openxmlformats.org/drawingml/2006/table">
            <a:tbl>
              <a:tblPr firstRow="1" bandRow="1">
                <a:tableStyleId>{0E3FDE45-AF77-4B5C-9715-49D594BDF05E}</a:tableStyleId>
              </a:tblPr>
              <a:tblGrid>
                <a:gridCol w="2318266">
                  <a:extLst>
                    <a:ext uri="{9D8B030D-6E8A-4147-A177-3AD203B41FA5}">
                      <a16:colId xmlns:a16="http://schemas.microsoft.com/office/drawing/2014/main" val="1075697102"/>
                    </a:ext>
                  </a:extLst>
                </a:gridCol>
                <a:gridCol w="1474168">
                  <a:extLst>
                    <a:ext uri="{9D8B030D-6E8A-4147-A177-3AD203B41FA5}">
                      <a16:colId xmlns:a16="http://schemas.microsoft.com/office/drawing/2014/main" val="4055984018"/>
                    </a:ext>
                  </a:extLst>
                </a:gridCol>
                <a:gridCol w="3904359">
                  <a:extLst>
                    <a:ext uri="{9D8B030D-6E8A-4147-A177-3AD203B41FA5}">
                      <a16:colId xmlns:a16="http://schemas.microsoft.com/office/drawing/2014/main" val="415036348"/>
                    </a:ext>
                  </a:extLst>
                </a:gridCol>
              </a:tblGrid>
              <a:tr h="370840">
                <a:tc>
                  <a:txBody>
                    <a:bodyPr/>
                    <a:lstStyle/>
                    <a:p>
                      <a:pPr algn="ctr"/>
                      <a:r>
                        <a:rPr lang="en-IN" sz="2400" dirty="0">
                          <a:solidFill>
                            <a:schemeClr val="accent2">
                              <a:lumMod val="25000"/>
                            </a:schemeClr>
                          </a:solidFill>
                        </a:rPr>
                        <a:t>Augmentation</a:t>
                      </a:r>
                    </a:p>
                  </a:txBody>
                  <a:tcPr/>
                </a:tc>
                <a:tc>
                  <a:txBody>
                    <a:bodyPr/>
                    <a:lstStyle/>
                    <a:p>
                      <a:pPr algn="ctr"/>
                      <a:r>
                        <a:rPr lang="en-IN" sz="2400" dirty="0">
                          <a:solidFill>
                            <a:schemeClr val="accent2">
                              <a:lumMod val="25000"/>
                            </a:schemeClr>
                          </a:solidFill>
                        </a:rPr>
                        <a:t>Value</a:t>
                      </a:r>
                    </a:p>
                  </a:txBody>
                  <a:tcPr/>
                </a:tc>
                <a:tc>
                  <a:txBody>
                    <a:bodyPr/>
                    <a:lstStyle/>
                    <a:p>
                      <a:pPr algn="ctr"/>
                      <a:r>
                        <a:rPr lang="en-IN" sz="2400" dirty="0">
                          <a:solidFill>
                            <a:schemeClr val="accent2">
                              <a:lumMod val="25000"/>
                            </a:schemeClr>
                          </a:solidFill>
                        </a:rPr>
                        <a:t>Purpose</a:t>
                      </a:r>
                    </a:p>
                  </a:txBody>
                  <a:tcPr/>
                </a:tc>
                <a:extLst>
                  <a:ext uri="{0D108BD9-81ED-4DB2-BD59-A6C34878D82A}">
                    <a16:rowId xmlns:a16="http://schemas.microsoft.com/office/drawing/2014/main" val="4131938698"/>
                  </a:ext>
                </a:extLst>
              </a:tr>
              <a:tr h="370840">
                <a:tc>
                  <a:txBody>
                    <a:bodyPr/>
                    <a:lstStyle/>
                    <a:p>
                      <a:pPr algn="ctr"/>
                      <a:r>
                        <a:rPr lang="en-IN" sz="2400" b="1" dirty="0">
                          <a:solidFill>
                            <a:schemeClr val="accent2">
                              <a:lumMod val="25000"/>
                            </a:schemeClr>
                          </a:solidFill>
                        </a:rPr>
                        <a:t>Rotation</a:t>
                      </a:r>
                    </a:p>
                  </a:txBody>
                  <a:tcPr/>
                </a:tc>
                <a:tc>
                  <a:txBody>
                    <a:bodyPr/>
                    <a:lstStyle/>
                    <a:p>
                      <a:pPr algn="ctr"/>
                      <a:r>
                        <a:rPr lang="en-IN" sz="2000">
                          <a:solidFill>
                            <a:schemeClr val="tx1"/>
                          </a:solidFill>
                        </a:rPr>
                        <a:t>180°</a:t>
                      </a:r>
                    </a:p>
                  </a:txBody>
                  <a:tcPr/>
                </a:tc>
                <a:tc>
                  <a:txBody>
                    <a:bodyPr/>
                    <a:lstStyle/>
                    <a:p>
                      <a:pPr lvl="0" algn="ctr">
                        <a:buNone/>
                      </a:pPr>
                      <a:r>
                        <a:rPr lang="en-IN" sz="2000" dirty="0">
                          <a:solidFill>
                            <a:schemeClr val="tx1"/>
                          </a:solidFill>
                        </a:rPr>
                        <a:t>Handle upside-</a:t>
                      </a:r>
                      <a:r>
                        <a:rPr lang="en-IN" sz="2000" err="1">
                          <a:solidFill>
                            <a:schemeClr val="tx1"/>
                          </a:solidFill>
                        </a:rPr>
                        <a:t>dow</a:t>
                      </a:r>
                      <a:r>
                        <a:rPr lang="en-IN" sz="2000">
                          <a:solidFill>
                            <a:schemeClr val="tx1"/>
                          </a:solidFill>
                        </a:rPr>
                        <a:t>n cones</a:t>
                      </a:r>
                      <a:endParaRPr lang="en-US"/>
                    </a:p>
                  </a:txBody>
                  <a:tcPr/>
                </a:tc>
                <a:extLst>
                  <a:ext uri="{0D108BD9-81ED-4DB2-BD59-A6C34878D82A}">
                    <a16:rowId xmlns:a16="http://schemas.microsoft.com/office/drawing/2014/main" val="1801129056"/>
                  </a:ext>
                </a:extLst>
              </a:tr>
              <a:tr h="370840">
                <a:tc>
                  <a:txBody>
                    <a:bodyPr/>
                    <a:lstStyle/>
                    <a:p>
                      <a:pPr lvl="0" algn="ctr">
                        <a:buNone/>
                      </a:pPr>
                      <a:r>
                        <a:rPr lang="en-IN" sz="2400" b="1" i="0" u="none" strike="noStrike" noProof="0">
                          <a:solidFill>
                            <a:schemeClr val="accent2">
                              <a:lumMod val="25000"/>
                            </a:schemeClr>
                          </a:solidFill>
                          <a:latin typeface="Aptos"/>
                        </a:rPr>
                        <a:t>Saturation</a:t>
                      </a:r>
                      <a:endParaRPr lang="en-IN" sz="2400" b="1" dirty="0">
                        <a:solidFill>
                          <a:schemeClr val="accent2">
                            <a:lumMod val="25000"/>
                          </a:schemeClr>
                        </a:solidFill>
                      </a:endParaRPr>
                    </a:p>
                  </a:txBody>
                  <a:tcPr/>
                </a:tc>
                <a:tc>
                  <a:txBody>
                    <a:bodyPr/>
                    <a:lstStyle/>
                    <a:p>
                      <a:pPr lvl="0" algn="ctr">
                        <a:buNone/>
                      </a:pPr>
                      <a:r>
                        <a:rPr lang="en-IN" sz="2000" b="0" i="0" u="none" strike="noStrike" noProof="0">
                          <a:solidFill>
                            <a:schemeClr val="tx1"/>
                          </a:solidFill>
                          <a:latin typeface="Aptos"/>
                        </a:rPr>
                        <a:t>90%</a:t>
                      </a:r>
                    </a:p>
                  </a:txBody>
                  <a:tcPr/>
                </a:tc>
                <a:tc>
                  <a:txBody>
                    <a:bodyPr/>
                    <a:lstStyle/>
                    <a:p>
                      <a:pPr lvl="0" algn="ctr">
                        <a:buNone/>
                      </a:pPr>
                      <a:r>
                        <a:rPr lang="en-IN" sz="2000" b="0" i="0" u="none" strike="noStrike" noProof="0" dirty="0">
                          <a:solidFill>
                            <a:schemeClr val="tx1"/>
                          </a:solidFill>
                          <a:latin typeface="Aptos"/>
                        </a:rPr>
                        <a:t>Handle lighting/</a:t>
                      </a:r>
                      <a:r>
                        <a:rPr lang="en-IN" sz="2000" b="0" i="0" u="none" strike="noStrike" noProof="0" dirty="0" err="1">
                          <a:solidFill>
                            <a:schemeClr val="tx1"/>
                          </a:solidFill>
                          <a:latin typeface="Aptos"/>
                        </a:rPr>
                        <a:t>color</a:t>
                      </a:r>
                      <a:r>
                        <a:rPr lang="en-IN" sz="2000" b="0" i="0" u="none" strike="noStrike" noProof="0" dirty="0">
                          <a:solidFill>
                            <a:schemeClr val="tx1"/>
                          </a:solidFill>
                          <a:latin typeface="Aptos"/>
                        </a:rPr>
                        <a:t> intensity</a:t>
                      </a:r>
                      <a:endParaRPr lang="en-IN" sz="2000" dirty="0">
                        <a:solidFill>
                          <a:schemeClr val="tx1"/>
                        </a:solidFill>
                      </a:endParaRPr>
                    </a:p>
                  </a:txBody>
                  <a:tcPr/>
                </a:tc>
                <a:extLst>
                  <a:ext uri="{0D108BD9-81ED-4DB2-BD59-A6C34878D82A}">
                    <a16:rowId xmlns:a16="http://schemas.microsoft.com/office/drawing/2014/main" val="1440952055"/>
                  </a:ext>
                </a:extLst>
              </a:tr>
              <a:tr h="370840">
                <a:tc>
                  <a:txBody>
                    <a:bodyPr/>
                    <a:lstStyle/>
                    <a:p>
                      <a:pPr algn="ctr"/>
                      <a:r>
                        <a:rPr lang="en-IN" sz="2400" b="1">
                          <a:solidFill>
                            <a:schemeClr val="accent2">
                              <a:lumMod val="25000"/>
                            </a:schemeClr>
                          </a:solidFill>
                        </a:rPr>
                        <a:t>Hue shift</a:t>
                      </a:r>
                    </a:p>
                  </a:txBody>
                  <a:tcPr/>
                </a:tc>
                <a:tc>
                  <a:txBody>
                    <a:bodyPr/>
                    <a:lstStyle/>
                    <a:p>
                      <a:pPr algn="ctr"/>
                      <a:r>
                        <a:rPr lang="en-IN" sz="2000">
                          <a:solidFill>
                            <a:schemeClr val="tx1"/>
                          </a:solidFill>
                        </a:rPr>
                        <a:t>2%</a:t>
                      </a:r>
                    </a:p>
                  </a:txBody>
                  <a:tcPr/>
                </a:tc>
                <a:tc>
                  <a:txBody>
                    <a:bodyPr/>
                    <a:lstStyle/>
                    <a:p>
                      <a:pPr lvl="0" algn="ctr">
                        <a:buNone/>
                      </a:pPr>
                      <a:r>
                        <a:rPr lang="en-IN" sz="2000" b="0" i="0" u="none" strike="noStrike" baseline="0" noProof="0" dirty="0">
                          <a:solidFill>
                            <a:srgbClr val="000000"/>
                          </a:solidFill>
                          <a:latin typeface="Aptos"/>
                        </a:rPr>
                        <a:t>Handle </a:t>
                      </a:r>
                      <a:r>
                        <a:rPr lang="en-IN" sz="2000" b="0" i="0" u="none" strike="noStrike" baseline="0" noProof="0" dirty="0" err="1">
                          <a:solidFill>
                            <a:srgbClr val="000000"/>
                          </a:solidFill>
                          <a:latin typeface="Aptos"/>
                        </a:rPr>
                        <a:t>off-center</a:t>
                      </a:r>
                      <a:r>
                        <a:rPr lang="en-IN" sz="2000" b="0" i="0" u="none" strike="noStrike" baseline="0" noProof="0" dirty="0">
                          <a:solidFill>
                            <a:srgbClr val="000000"/>
                          </a:solidFill>
                          <a:latin typeface="Aptos"/>
                        </a:rPr>
                        <a:t> cones</a:t>
                      </a:r>
                      <a:endParaRPr lang="en-US" dirty="0"/>
                    </a:p>
                  </a:txBody>
                  <a:tcPr/>
                </a:tc>
                <a:extLst>
                  <a:ext uri="{0D108BD9-81ED-4DB2-BD59-A6C34878D82A}">
                    <a16:rowId xmlns:a16="http://schemas.microsoft.com/office/drawing/2014/main" val="3808593477"/>
                  </a:ext>
                </a:extLst>
              </a:tr>
              <a:tr h="370840">
                <a:tc>
                  <a:txBody>
                    <a:bodyPr/>
                    <a:lstStyle/>
                    <a:p>
                      <a:pPr lvl="0" algn="ctr">
                        <a:buNone/>
                      </a:pPr>
                      <a:r>
                        <a:rPr lang="en-IN" sz="2400" b="1" i="0" u="none" strike="noStrike" baseline="0" noProof="0">
                          <a:solidFill>
                            <a:srgbClr val="03126A"/>
                          </a:solidFill>
                          <a:latin typeface="Aptos"/>
                        </a:rPr>
                        <a:t>Mosaic</a:t>
                      </a:r>
                      <a:endParaRPr lang="en-US"/>
                    </a:p>
                  </a:txBody>
                  <a:tcPr/>
                </a:tc>
                <a:tc>
                  <a:txBody>
                    <a:bodyPr/>
                    <a:lstStyle/>
                    <a:p>
                      <a:pPr lvl="0" algn="ctr">
                        <a:buNone/>
                      </a:pPr>
                      <a:r>
                        <a:rPr lang="en-IN" sz="2000" b="0" i="0" u="none" strike="noStrike" noProof="0">
                          <a:solidFill>
                            <a:schemeClr val="tx1"/>
                          </a:solidFill>
                          <a:latin typeface="Aptos"/>
                        </a:rPr>
                        <a:t>100%</a:t>
                      </a:r>
                      <a:endParaRPr lang="en-IN" sz="2000" dirty="0">
                        <a:solidFill>
                          <a:schemeClr val="tx1"/>
                        </a:solidFill>
                      </a:endParaRPr>
                    </a:p>
                  </a:txBody>
                  <a:tcPr/>
                </a:tc>
                <a:tc>
                  <a:txBody>
                    <a:bodyPr/>
                    <a:lstStyle/>
                    <a:p>
                      <a:pPr lvl="0" algn="ctr">
                        <a:buNone/>
                      </a:pPr>
                      <a:r>
                        <a:rPr lang="en-IN" sz="2000" b="0" i="0" u="none" strike="noStrike" noProof="0">
                          <a:solidFill>
                            <a:schemeClr val="tx1"/>
                          </a:solidFill>
                          <a:latin typeface="Aptos"/>
                        </a:rPr>
                        <a:t>Combine 4 images → better generalization</a:t>
                      </a:r>
                      <a:endParaRPr lang="en-IN" sz="2000" dirty="0">
                        <a:solidFill>
                          <a:schemeClr val="tx1"/>
                        </a:solidFill>
                      </a:endParaRPr>
                    </a:p>
                  </a:txBody>
                  <a:tcPr/>
                </a:tc>
                <a:extLst>
                  <a:ext uri="{0D108BD9-81ED-4DB2-BD59-A6C34878D82A}">
                    <a16:rowId xmlns:a16="http://schemas.microsoft.com/office/drawing/2014/main" val="820850254"/>
                  </a:ext>
                </a:extLst>
              </a:tr>
              <a:tr h="370840">
                <a:tc>
                  <a:txBody>
                    <a:bodyPr/>
                    <a:lstStyle/>
                    <a:p>
                      <a:pPr lvl="0" algn="ctr">
                        <a:buNone/>
                      </a:pPr>
                      <a:r>
                        <a:rPr lang="en-IN" sz="2400" b="1" i="0" u="none" strike="noStrike" noProof="0">
                          <a:solidFill>
                            <a:schemeClr val="accent2">
                              <a:lumMod val="25000"/>
                            </a:schemeClr>
                          </a:solidFill>
                          <a:latin typeface="Aptos"/>
                        </a:rPr>
                        <a:t>Scale</a:t>
                      </a:r>
                      <a:endParaRPr lang="en-US" b="1"/>
                    </a:p>
                  </a:txBody>
                  <a:tcPr/>
                </a:tc>
                <a:tc>
                  <a:txBody>
                    <a:bodyPr/>
                    <a:lstStyle/>
                    <a:p>
                      <a:pPr lvl="0" algn="ctr">
                        <a:buNone/>
                      </a:pPr>
                      <a:r>
                        <a:rPr lang="en-IN" sz="2000" b="0" i="0" u="none" strike="noStrike" noProof="0">
                          <a:solidFill>
                            <a:schemeClr val="tx1"/>
                          </a:solidFill>
                          <a:latin typeface="Aptos"/>
                        </a:rPr>
                        <a:t>60%</a:t>
                      </a:r>
                    </a:p>
                  </a:txBody>
                  <a:tcPr/>
                </a:tc>
                <a:tc>
                  <a:txBody>
                    <a:bodyPr/>
                    <a:lstStyle/>
                    <a:p>
                      <a:pPr lvl="0" algn="ctr">
                        <a:buNone/>
                      </a:pPr>
                      <a:r>
                        <a:rPr lang="en-IN" sz="2000" b="0" i="0" u="none" strike="noStrike" noProof="0">
                          <a:solidFill>
                            <a:schemeClr val="tx1"/>
                          </a:solidFill>
                          <a:latin typeface="Aptos"/>
                        </a:rPr>
                        <a:t>Handle different distances</a:t>
                      </a:r>
                    </a:p>
                  </a:txBody>
                  <a:tcPr/>
                </a:tc>
                <a:extLst>
                  <a:ext uri="{0D108BD9-81ED-4DB2-BD59-A6C34878D82A}">
                    <a16:rowId xmlns:a16="http://schemas.microsoft.com/office/drawing/2014/main" val="102081721"/>
                  </a:ext>
                </a:extLst>
              </a:tr>
              <a:tr h="370839">
                <a:tc>
                  <a:txBody>
                    <a:bodyPr/>
                    <a:lstStyle/>
                    <a:p>
                      <a:pPr lvl="0" algn="ctr">
                        <a:buNone/>
                      </a:pPr>
                      <a:r>
                        <a:rPr lang="en-IN" sz="2400" b="1" i="0" u="none" strike="noStrike" noProof="0">
                          <a:solidFill>
                            <a:schemeClr val="accent2">
                              <a:lumMod val="25000"/>
                            </a:schemeClr>
                          </a:solidFill>
                          <a:latin typeface="Aptos"/>
                        </a:rPr>
                        <a:t>...</a:t>
                      </a:r>
                      <a:endParaRPr lang="en-IN" sz="2400" b="1" i="0" u="none" strike="noStrike" noProof="0" dirty="0">
                        <a:solidFill>
                          <a:schemeClr val="accent2">
                            <a:lumMod val="25000"/>
                          </a:schemeClr>
                        </a:solidFill>
                        <a:latin typeface="Aptos"/>
                      </a:endParaRPr>
                    </a:p>
                  </a:txBody>
                  <a:tcPr/>
                </a:tc>
                <a:tc>
                  <a:txBody>
                    <a:bodyPr/>
                    <a:lstStyle/>
                    <a:p>
                      <a:pPr lvl="0" algn="ctr">
                        <a:buNone/>
                      </a:pPr>
                      <a:r>
                        <a:rPr lang="en-IN" sz="2000" b="0" i="0" u="none" strike="noStrike" noProof="0">
                          <a:solidFill>
                            <a:schemeClr val="tx1"/>
                          </a:solidFill>
                          <a:latin typeface="Aptos"/>
                        </a:rPr>
                        <a:t>...</a:t>
                      </a:r>
                      <a:endParaRPr lang="en-IN" sz="2000" b="0" i="0" u="none" strike="noStrike" noProof="0" dirty="0">
                        <a:solidFill>
                          <a:schemeClr val="tx1"/>
                        </a:solidFill>
                        <a:latin typeface="Aptos"/>
                      </a:endParaRPr>
                    </a:p>
                  </a:txBody>
                  <a:tcPr/>
                </a:tc>
                <a:tc>
                  <a:txBody>
                    <a:bodyPr/>
                    <a:lstStyle/>
                    <a:p>
                      <a:pPr lvl="0" algn="ctr">
                        <a:buNone/>
                      </a:pPr>
                      <a:r>
                        <a:rPr lang="en-IN" sz="2000" b="0" i="0" u="none" strike="noStrike" noProof="0">
                          <a:solidFill>
                            <a:schemeClr val="tx1"/>
                          </a:solidFill>
                          <a:latin typeface="Aptos"/>
                        </a:rPr>
                        <a:t>...</a:t>
                      </a:r>
                      <a:endParaRPr lang="en-IN" sz="2000" b="0" i="0" u="none" strike="noStrike" noProof="0" dirty="0">
                        <a:solidFill>
                          <a:schemeClr val="tx1"/>
                        </a:solidFill>
                        <a:latin typeface="Aptos"/>
                      </a:endParaRPr>
                    </a:p>
                  </a:txBody>
                  <a:tcPr/>
                </a:tc>
                <a:extLst>
                  <a:ext uri="{0D108BD9-81ED-4DB2-BD59-A6C34878D82A}">
                    <a16:rowId xmlns:a16="http://schemas.microsoft.com/office/drawing/2014/main" val="833886387"/>
                  </a:ext>
                </a:extLst>
              </a:tr>
            </a:tbl>
          </a:graphicData>
        </a:graphic>
      </p:graphicFrame>
    </p:spTree>
    <p:extLst>
      <p:ext uri="{BB962C8B-B14F-4D97-AF65-F5344CB8AC3E}">
        <p14:creationId xmlns:p14="http://schemas.microsoft.com/office/powerpoint/2010/main" val="137173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4088998" y="720793"/>
            <a:ext cx="4014003" cy="734284"/>
          </a:xfrm>
          <a:noFill/>
        </p:spPr>
        <p:txBody>
          <a:bodyPr>
            <a:noAutofit/>
          </a:bodyPr>
          <a:lstStyle/>
          <a:p>
            <a:r>
              <a:rPr lang="en-US" dirty="0"/>
              <a:t>Training Setup</a:t>
            </a:r>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6</a:t>
            </a:fld>
            <a:endParaRPr lang="en-US" dirty="0"/>
          </a:p>
        </p:txBody>
      </p:sp>
      <p:graphicFrame>
        <p:nvGraphicFramePr>
          <p:cNvPr id="7" name="Content Placeholder 6">
            <a:extLst>
              <a:ext uri="{FF2B5EF4-FFF2-40B4-BE49-F238E27FC236}">
                <a16:creationId xmlns:a16="http://schemas.microsoft.com/office/drawing/2014/main" id="{DE663D39-4E45-39EC-4225-9FEC7D59705F}"/>
              </a:ext>
            </a:extLst>
          </p:cNvPr>
          <p:cNvGraphicFramePr>
            <a:graphicFrameLocks noGrp="1"/>
          </p:cNvGraphicFramePr>
          <p:nvPr>
            <p:ph idx="1"/>
            <p:extLst>
              <p:ext uri="{D42A27DB-BD31-4B8C-83A1-F6EECF244321}">
                <p14:modId xmlns:p14="http://schemas.microsoft.com/office/powerpoint/2010/main" val="1531442117"/>
              </p:ext>
            </p:extLst>
          </p:nvPr>
        </p:nvGraphicFramePr>
        <p:xfrm>
          <a:off x="2802088" y="1642158"/>
          <a:ext cx="6568771" cy="4931978"/>
        </p:xfrm>
        <a:graphic>
          <a:graphicData uri="http://schemas.openxmlformats.org/drawingml/2006/table">
            <a:tbl>
              <a:tblPr firstRow="1" bandRow="1">
                <a:tableStyleId>{0E3FDE45-AF77-4B5C-9715-49D594BDF05E}</a:tableStyleId>
              </a:tblPr>
              <a:tblGrid>
                <a:gridCol w="2629494">
                  <a:extLst>
                    <a:ext uri="{9D8B030D-6E8A-4147-A177-3AD203B41FA5}">
                      <a16:colId xmlns:a16="http://schemas.microsoft.com/office/drawing/2014/main" val="3527121016"/>
                    </a:ext>
                  </a:extLst>
                </a:gridCol>
                <a:gridCol w="3939277">
                  <a:extLst>
                    <a:ext uri="{9D8B030D-6E8A-4147-A177-3AD203B41FA5}">
                      <a16:colId xmlns:a16="http://schemas.microsoft.com/office/drawing/2014/main" val="2408911049"/>
                    </a:ext>
                  </a:extLst>
                </a:gridCol>
              </a:tblGrid>
              <a:tr h="518380">
                <a:tc>
                  <a:txBody>
                    <a:bodyPr/>
                    <a:lstStyle/>
                    <a:p>
                      <a:pPr algn="ctr" rtl="0"/>
                      <a:r>
                        <a:rPr lang="en-IN" sz="2600" b="1" dirty="0">
                          <a:solidFill>
                            <a:schemeClr val="accent2">
                              <a:lumMod val="25000"/>
                            </a:schemeClr>
                          </a:solidFill>
                        </a:rPr>
                        <a:t>Parameter</a:t>
                      </a:r>
                    </a:p>
                  </a:txBody>
                  <a:tcPr marL="119626" marR="119626" marT="59813" marB="59813"/>
                </a:tc>
                <a:tc>
                  <a:txBody>
                    <a:bodyPr/>
                    <a:lstStyle/>
                    <a:p>
                      <a:pPr algn="ctr" rtl="0"/>
                      <a:r>
                        <a:rPr lang="en-IN" sz="2600" dirty="0">
                          <a:solidFill>
                            <a:schemeClr val="accent2">
                              <a:lumMod val="25000"/>
                            </a:schemeClr>
                          </a:solidFill>
                        </a:rPr>
                        <a:t>Value</a:t>
                      </a:r>
                      <a:endParaRPr lang="en-IN" sz="2400" dirty="0">
                        <a:solidFill>
                          <a:schemeClr val="accent2">
                            <a:lumMod val="25000"/>
                          </a:schemeClr>
                        </a:solidFill>
                      </a:endParaRPr>
                    </a:p>
                  </a:txBody>
                  <a:tcPr marL="119626" marR="119626" marT="59813" marB="59813"/>
                </a:tc>
                <a:extLst>
                  <a:ext uri="{0D108BD9-81ED-4DB2-BD59-A6C34878D82A}">
                    <a16:rowId xmlns:a16="http://schemas.microsoft.com/office/drawing/2014/main" val="2746321508"/>
                  </a:ext>
                </a:extLst>
              </a:tr>
              <a:tr h="518380">
                <a:tc>
                  <a:txBody>
                    <a:bodyPr/>
                    <a:lstStyle/>
                    <a:p>
                      <a:pPr algn="ctr" rtl="0"/>
                      <a:r>
                        <a:rPr lang="en-IN" sz="2600" b="1" dirty="0">
                          <a:solidFill>
                            <a:schemeClr val="accent2">
                              <a:lumMod val="25000"/>
                            </a:schemeClr>
                          </a:solidFill>
                        </a:rPr>
                        <a:t>Optimizer</a:t>
                      </a:r>
                    </a:p>
                  </a:txBody>
                  <a:tcPr marL="119626" marR="119626" marT="59813" marB="59813"/>
                </a:tc>
                <a:tc>
                  <a:txBody>
                    <a:bodyPr/>
                    <a:lstStyle/>
                    <a:p>
                      <a:pPr algn="ctr" rtl="0"/>
                      <a:r>
                        <a:rPr lang="en-IN" sz="2400" dirty="0" err="1"/>
                        <a:t>AdamW</a:t>
                      </a:r>
                    </a:p>
                  </a:txBody>
                  <a:tcPr marL="119626" marR="119626" marT="59813" marB="59813"/>
                </a:tc>
                <a:extLst>
                  <a:ext uri="{0D108BD9-81ED-4DB2-BD59-A6C34878D82A}">
                    <a16:rowId xmlns:a16="http://schemas.microsoft.com/office/drawing/2014/main" val="1065129903"/>
                  </a:ext>
                </a:extLst>
              </a:tr>
              <a:tr h="518380">
                <a:tc>
                  <a:txBody>
                    <a:bodyPr/>
                    <a:lstStyle/>
                    <a:p>
                      <a:pPr algn="ctr" rtl="0"/>
                      <a:r>
                        <a:rPr lang="en-IN" sz="2600" b="1" dirty="0">
                          <a:solidFill>
                            <a:schemeClr val="accent2">
                              <a:lumMod val="25000"/>
                            </a:schemeClr>
                          </a:solidFill>
                        </a:rPr>
                        <a:t>Learning rate</a:t>
                      </a:r>
                    </a:p>
                  </a:txBody>
                  <a:tcPr marL="119626" marR="119626" marT="59813" marB="59813"/>
                </a:tc>
                <a:tc>
                  <a:txBody>
                    <a:bodyPr/>
                    <a:lstStyle/>
                    <a:p>
                      <a:pPr algn="ctr" rtl="0"/>
                      <a:r>
                        <a:rPr lang="en-IN" sz="2400"/>
                        <a:t>0.01</a:t>
                      </a:r>
                      <a:endParaRPr lang="en-IN" sz="2400" dirty="0"/>
                    </a:p>
                  </a:txBody>
                  <a:tcPr marL="119626" marR="119626" marT="59813" marB="59813"/>
                </a:tc>
                <a:extLst>
                  <a:ext uri="{0D108BD9-81ED-4DB2-BD59-A6C34878D82A}">
                    <a16:rowId xmlns:a16="http://schemas.microsoft.com/office/drawing/2014/main" val="1065523595"/>
                  </a:ext>
                </a:extLst>
              </a:tr>
              <a:tr h="518379">
                <a:tc>
                  <a:txBody>
                    <a:bodyPr/>
                    <a:lstStyle/>
                    <a:p>
                      <a:pPr lvl="0" algn="ctr">
                        <a:buNone/>
                      </a:pPr>
                      <a:r>
                        <a:rPr lang="en-IN" sz="2600" b="1" i="0" u="none" strike="noStrike" noProof="0">
                          <a:solidFill>
                            <a:schemeClr val="accent2">
                              <a:lumMod val="25000"/>
                            </a:schemeClr>
                          </a:solidFill>
                        </a:rPr>
                        <a:t>Patience</a:t>
                      </a:r>
                      <a:endParaRPr lang="en-US" b="1"/>
                    </a:p>
                  </a:txBody>
                  <a:tcPr marL="119625" marR="119625" marT="59813" marB="59813"/>
                </a:tc>
                <a:tc>
                  <a:txBody>
                    <a:bodyPr/>
                    <a:lstStyle/>
                    <a:p>
                      <a:pPr lvl="0" algn="ctr">
                        <a:lnSpc>
                          <a:spcPct val="100000"/>
                        </a:lnSpc>
                        <a:spcBef>
                          <a:spcPts val="0"/>
                        </a:spcBef>
                        <a:spcAft>
                          <a:spcPts val="0"/>
                        </a:spcAft>
                        <a:buNone/>
                      </a:pPr>
                      <a:r>
                        <a:rPr lang="en-IN" sz="2400" b="0" i="0" u="none" strike="noStrike" noProof="0">
                          <a:solidFill>
                            <a:srgbClr val="000000"/>
                          </a:solidFill>
                          <a:latin typeface="Aptos"/>
                        </a:rPr>
                        <a:t>30</a:t>
                      </a:r>
                      <a:endParaRPr lang="en-IN" sz="2400" b="0" i="0" u="none" strike="noStrike" noProof="0" dirty="0">
                        <a:solidFill>
                          <a:srgbClr val="000000"/>
                        </a:solidFill>
                        <a:latin typeface="Aptos"/>
                      </a:endParaRPr>
                    </a:p>
                    <a:p>
                      <a:pPr lvl="0" algn="ctr">
                        <a:buNone/>
                      </a:pPr>
                      <a:endParaRPr lang="en-IN" sz="1000" b="0" i="0" u="none" strike="noStrike" noProof="0" dirty="0">
                        <a:solidFill>
                          <a:srgbClr val="E6D37A"/>
                        </a:solidFill>
                        <a:latin typeface="Consolas"/>
                      </a:endParaRPr>
                    </a:p>
                  </a:txBody>
                  <a:tcPr marL="119625" marR="119625" marT="59813" marB="59813"/>
                </a:tc>
                <a:extLst>
                  <a:ext uri="{0D108BD9-81ED-4DB2-BD59-A6C34878D82A}">
                    <a16:rowId xmlns:a16="http://schemas.microsoft.com/office/drawing/2014/main" val="2570298637"/>
                  </a:ext>
                </a:extLst>
              </a:tr>
              <a:tr h="518380">
                <a:tc>
                  <a:txBody>
                    <a:bodyPr/>
                    <a:lstStyle/>
                    <a:p>
                      <a:pPr algn="ctr" rtl="0"/>
                      <a:r>
                        <a:rPr lang="en-IN" sz="2600" b="1" dirty="0">
                          <a:solidFill>
                            <a:schemeClr val="accent2">
                              <a:lumMod val="25000"/>
                            </a:schemeClr>
                          </a:solidFill>
                        </a:rPr>
                        <a:t>Batch size</a:t>
                      </a:r>
                    </a:p>
                  </a:txBody>
                  <a:tcPr marL="119626" marR="119626" marT="59813" marB="59813"/>
                </a:tc>
                <a:tc>
                  <a:txBody>
                    <a:bodyPr/>
                    <a:lstStyle/>
                    <a:p>
                      <a:pPr algn="ctr" rtl="0"/>
                      <a:r>
                        <a:rPr lang="en-IN" sz="2400"/>
                        <a:t>8</a:t>
                      </a:r>
                      <a:endParaRPr lang="en-IN" sz="2400" dirty="0"/>
                    </a:p>
                  </a:txBody>
                  <a:tcPr marL="119626" marR="119626" marT="59813" marB="59813"/>
                </a:tc>
                <a:extLst>
                  <a:ext uri="{0D108BD9-81ED-4DB2-BD59-A6C34878D82A}">
                    <a16:rowId xmlns:a16="http://schemas.microsoft.com/office/drawing/2014/main" val="3812080466"/>
                  </a:ext>
                </a:extLst>
              </a:tr>
              <a:tr h="518380">
                <a:tc>
                  <a:txBody>
                    <a:bodyPr/>
                    <a:lstStyle/>
                    <a:p>
                      <a:pPr algn="ctr" rtl="0"/>
                      <a:r>
                        <a:rPr lang="en-IN" sz="2600" b="1" dirty="0">
                          <a:solidFill>
                            <a:schemeClr val="accent2">
                              <a:lumMod val="25000"/>
                            </a:schemeClr>
                          </a:solidFill>
                        </a:rPr>
                        <a:t>Epochs</a:t>
                      </a:r>
                    </a:p>
                  </a:txBody>
                  <a:tcPr marL="119626" marR="119626" marT="59813" marB="59813"/>
                </a:tc>
                <a:tc>
                  <a:txBody>
                    <a:bodyPr/>
                    <a:lstStyle/>
                    <a:p>
                      <a:pPr algn="ctr" rtl="0"/>
                      <a:r>
                        <a:rPr lang="en-IN" sz="2400"/>
                        <a:t>150</a:t>
                      </a:r>
                      <a:endParaRPr lang="en-IN" sz="2400" dirty="0"/>
                    </a:p>
                  </a:txBody>
                  <a:tcPr marL="119626" marR="119626" marT="59813" marB="59813"/>
                </a:tc>
                <a:extLst>
                  <a:ext uri="{0D108BD9-81ED-4DB2-BD59-A6C34878D82A}">
                    <a16:rowId xmlns:a16="http://schemas.microsoft.com/office/drawing/2014/main" val="2845099047"/>
                  </a:ext>
                </a:extLst>
              </a:tr>
              <a:tr h="518380">
                <a:tc>
                  <a:txBody>
                    <a:bodyPr/>
                    <a:lstStyle/>
                    <a:p>
                      <a:pPr algn="ctr" rtl="0"/>
                      <a:r>
                        <a:rPr lang="en-IN" sz="2600" b="1" dirty="0">
                          <a:solidFill>
                            <a:schemeClr val="accent2">
                              <a:lumMod val="25000"/>
                            </a:schemeClr>
                          </a:solidFill>
                        </a:rPr>
                        <a:t>Loss function</a:t>
                      </a:r>
                    </a:p>
                  </a:txBody>
                  <a:tcPr marL="119626" marR="119626" marT="59813" marB="59813"/>
                </a:tc>
                <a:tc>
                  <a:txBody>
                    <a:bodyPr/>
                    <a:lstStyle/>
                    <a:p>
                      <a:pPr lvl="0" algn="ctr">
                        <a:buNone/>
                      </a:pPr>
                      <a:r>
                        <a:rPr lang="en-IN" sz="2400" b="0" i="0" u="none" strike="noStrike" noProof="0">
                          <a:latin typeface="Aptos"/>
                        </a:rPr>
                        <a:t>Box loss + Class loss + DFL (YOLO built-in)</a:t>
                      </a:r>
                      <a:endParaRPr lang="en-US"/>
                    </a:p>
                  </a:txBody>
                  <a:tcPr marL="119626" marR="119626" marT="59813" marB="59813"/>
                </a:tc>
                <a:extLst>
                  <a:ext uri="{0D108BD9-81ED-4DB2-BD59-A6C34878D82A}">
                    <a16:rowId xmlns:a16="http://schemas.microsoft.com/office/drawing/2014/main" val="2348976439"/>
                  </a:ext>
                </a:extLst>
              </a:tr>
              <a:tr h="518380">
                <a:tc>
                  <a:txBody>
                    <a:bodyPr/>
                    <a:lstStyle/>
                    <a:p>
                      <a:pPr algn="ctr" rtl="0"/>
                      <a:r>
                        <a:rPr lang="en-IN" sz="2600" b="1" dirty="0">
                          <a:solidFill>
                            <a:schemeClr val="accent2">
                              <a:lumMod val="25000"/>
                            </a:schemeClr>
                          </a:solidFill>
                        </a:rPr>
                        <a:t>Hardware</a:t>
                      </a:r>
                    </a:p>
                  </a:txBody>
                  <a:tcPr marL="119626" marR="119626" marT="59813" marB="59813"/>
                </a:tc>
                <a:tc>
                  <a:txBody>
                    <a:bodyPr/>
                    <a:lstStyle/>
                    <a:p>
                      <a:pPr algn="ctr" rtl="0"/>
                      <a:r>
                        <a:rPr lang="en-IN" sz="2400" dirty="0"/>
                        <a:t>GPU : NVIDIA Ge-Force RTX </a:t>
                      </a:r>
                      <a:r>
                        <a:rPr lang="en-IN" sz="2400"/>
                        <a:t>4050</a:t>
                      </a:r>
                    </a:p>
                  </a:txBody>
                  <a:tcPr marL="119626" marR="119626" marT="59813" marB="59813"/>
                </a:tc>
                <a:extLst>
                  <a:ext uri="{0D108BD9-81ED-4DB2-BD59-A6C34878D82A}">
                    <a16:rowId xmlns:a16="http://schemas.microsoft.com/office/drawing/2014/main" val="2392451200"/>
                  </a:ext>
                </a:extLst>
              </a:tr>
            </a:tbl>
          </a:graphicData>
        </a:graphic>
      </p:graphicFrame>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9F61F934-8535-E086-C153-D48E49B98B6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
        <p:nvSpPr>
          <p:cNvPr id="5" name="Title 1">
            <a:extLst>
              <a:ext uri="{FF2B5EF4-FFF2-40B4-BE49-F238E27FC236}">
                <a16:creationId xmlns:a16="http://schemas.microsoft.com/office/drawing/2014/main" id="{10B9ADB8-F828-F2BC-3498-2E4811A48730}"/>
              </a:ext>
            </a:extLst>
          </p:cNvPr>
          <p:cNvSpPr txBox="1">
            <a:spLocks/>
          </p:cNvSpPr>
          <p:nvPr/>
        </p:nvSpPr>
        <p:spPr>
          <a:xfrm>
            <a:off x="4005709" y="294999"/>
            <a:ext cx="4520821" cy="734284"/>
          </a:xfrm>
          <a:prstGeom prst="rect">
            <a:avLst/>
          </a:prstGeom>
          <a:noFill/>
        </p:spPr>
        <p:txBody>
          <a:bodyPr vert="horz" lIns="91440" tIns="45720" rIns="91440" bIns="45720" rtlCol="0" anchor="b">
            <a:noAutofit/>
          </a:bodyPr>
          <a:lst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a:lstStyle>
          <a:p>
            <a:r>
              <a:rPr lang="en-US" dirty="0"/>
              <a:t> Training Results</a:t>
            </a:r>
          </a:p>
        </p:txBody>
      </p:sp>
      <p:graphicFrame>
        <p:nvGraphicFramePr>
          <p:cNvPr id="6" name="Content Placeholder 6">
            <a:extLst>
              <a:ext uri="{FF2B5EF4-FFF2-40B4-BE49-F238E27FC236}">
                <a16:creationId xmlns:a16="http://schemas.microsoft.com/office/drawing/2014/main" id="{66FD7889-B3A7-C1E7-A6FE-6C366E0CC8BA}"/>
              </a:ext>
            </a:extLst>
          </p:cNvPr>
          <p:cNvGraphicFramePr>
            <a:graphicFrameLocks/>
          </p:cNvGraphicFramePr>
          <p:nvPr>
            <p:extLst>
              <p:ext uri="{D42A27DB-BD31-4B8C-83A1-F6EECF244321}">
                <p14:modId xmlns:p14="http://schemas.microsoft.com/office/powerpoint/2010/main" val="764807121"/>
              </p:ext>
            </p:extLst>
          </p:nvPr>
        </p:nvGraphicFramePr>
        <p:xfrm>
          <a:off x="3927473" y="1224600"/>
          <a:ext cx="4338514" cy="1981200"/>
        </p:xfrm>
        <a:graphic>
          <a:graphicData uri="http://schemas.openxmlformats.org/drawingml/2006/table">
            <a:tbl>
              <a:tblPr firstRow="1" bandRow="1">
                <a:tableStyleId>{0E3FDE45-AF77-4B5C-9715-49D594BDF05E}</a:tableStyleId>
              </a:tblPr>
              <a:tblGrid>
                <a:gridCol w="1741998">
                  <a:extLst>
                    <a:ext uri="{9D8B030D-6E8A-4147-A177-3AD203B41FA5}">
                      <a16:colId xmlns:a16="http://schemas.microsoft.com/office/drawing/2014/main" val="3527121016"/>
                    </a:ext>
                  </a:extLst>
                </a:gridCol>
                <a:gridCol w="2596516">
                  <a:extLst>
                    <a:ext uri="{9D8B030D-6E8A-4147-A177-3AD203B41FA5}">
                      <a16:colId xmlns:a16="http://schemas.microsoft.com/office/drawing/2014/main" val="4104362401"/>
                    </a:ext>
                  </a:extLst>
                </a:gridCol>
              </a:tblGrid>
              <a:tr h="389793">
                <a:tc>
                  <a:txBody>
                    <a:bodyPr/>
                    <a:lstStyle/>
                    <a:p>
                      <a:pPr algn="ctr"/>
                      <a:r>
                        <a:rPr lang="en-IN" sz="2000" b="1" dirty="0">
                          <a:solidFill>
                            <a:schemeClr val="accent2">
                              <a:lumMod val="25000"/>
                            </a:schemeClr>
                          </a:solidFill>
                        </a:rPr>
                        <a:t>Epoch</a:t>
                      </a:r>
                    </a:p>
                  </a:txBody>
                  <a:tcPr/>
                </a:tc>
                <a:tc>
                  <a:txBody>
                    <a:bodyPr/>
                    <a:lstStyle/>
                    <a:p>
                      <a:pPr algn="ctr"/>
                      <a:r>
                        <a:rPr lang="en-IN" sz="2000" dirty="0">
                          <a:solidFill>
                            <a:schemeClr val="accent2">
                              <a:lumMod val="25000"/>
                            </a:schemeClr>
                          </a:solidFill>
                        </a:rPr>
                        <a:t>Validation Accuracy</a:t>
                      </a:r>
                    </a:p>
                  </a:txBody>
                  <a:tcPr/>
                </a:tc>
                <a:extLst>
                  <a:ext uri="{0D108BD9-81ED-4DB2-BD59-A6C34878D82A}">
                    <a16:rowId xmlns:a16="http://schemas.microsoft.com/office/drawing/2014/main" val="2746321508"/>
                  </a:ext>
                </a:extLst>
              </a:tr>
              <a:tr h="389793">
                <a:tc>
                  <a:txBody>
                    <a:bodyPr/>
                    <a:lstStyle/>
                    <a:p>
                      <a:pPr algn="ctr"/>
                      <a:r>
                        <a:rPr lang="en-IN" sz="2000" b="1">
                          <a:solidFill>
                            <a:schemeClr val="accent2">
                              <a:lumMod val="25000"/>
                            </a:schemeClr>
                          </a:solidFill>
                        </a:rPr>
                        <a:t>10</a:t>
                      </a:r>
                      <a:endParaRPr lang="en-IN" sz="2000" b="1" dirty="0">
                        <a:solidFill>
                          <a:schemeClr val="accent2">
                            <a:lumMod val="25000"/>
                          </a:schemeClr>
                        </a:solidFill>
                      </a:endParaRPr>
                    </a:p>
                  </a:txBody>
                  <a:tcPr/>
                </a:tc>
                <a:tc>
                  <a:txBody>
                    <a:bodyPr/>
                    <a:lstStyle/>
                    <a:p>
                      <a:pPr lvl="0" algn="ctr">
                        <a:buNone/>
                      </a:pPr>
                      <a:r>
                        <a:rPr lang="en-IN" sz="1800" b="0" i="0" u="none" strike="noStrike" noProof="0">
                          <a:latin typeface="Aptos"/>
                        </a:rPr>
                        <a:t>70%</a:t>
                      </a:r>
                    </a:p>
                  </a:txBody>
                  <a:tcPr/>
                </a:tc>
                <a:extLst>
                  <a:ext uri="{0D108BD9-81ED-4DB2-BD59-A6C34878D82A}">
                    <a16:rowId xmlns:a16="http://schemas.microsoft.com/office/drawing/2014/main" val="1065129903"/>
                  </a:ext>
                </a:extLst>
              </a:tr>
              <a:tr h="389793">
                <a:tc>
                  <a:txBody>
                    <a:bodyPr/>
                    <a:lstStyle/>
                    <a:p>
                      <a:pPr algn="ctr"/>
                      <a:r>
                        <a:rPr lang="en-IN" sz="2000" b="1">
                          <a:solidFill>
                            <a:schemeClr val="accent2">
                              <a:lumMod val="25000"/>
                            </a:schemeClr>
                          </a:solidFill>
                        </a:rPr>
                        <a:t>50</a:t>
                      </a:r>
                      <a:endParaRPr lang="en-IN" sz="2000" b="1" dirty="0">
                        <a:solidFill>
                          <a:schemeClr val="accent2">
                            <a:lumMod val="25000"/>
                          </a:schemeClr>
                        </a:solidFill>
                      </a:endParaRPr>
                    </a:p>
                  </a:txBody>
                  <a:tcPr/>
                </a:tc>
                <a:tc>
                  <a:txBody>
                    <a:bodyPr/>
                    <a:lstStyle/>
                    <a:p>
                      <a:pPr lvl="0" algn="ctr">
                        <a:buNone/>
                      </a:pPr>
                      <a:r>
                        <a:rPr lang="en-IN" sz="1800" b="0" i="0" u="none" strike="noStrike" noProof="0">
                          <a:latin typeface="Aptos"/>
                        </a:rPr>
                        <a:t>87%</a:t>
                      </a:r>
                    </a:p>
                  </a:txBody>
                  <a:tcPr/>
                </a:tc>
                <a:extLst>
                  <a:ext uri="{0D108BD9-81ED-4DB2-BD59-A6C34878D82A}">
                    <a16:rowId xmlns:a16="http://schemas.microsoft.com/office/drawing/2014/main" val="1065523595"/>
                  </a:ext>
                </a:extLst>
              </a:tr>
              <a:tr h="389793">
                <a:tc>
                  <a:txBody>
                    <a:bodyPr/>
                    <a:lstStyle/>
                    <a:p>
                      <a:pPr algn="ctr"/>
                      <a:r>
                        <a:rPr lang="en-IN" sz="2000" b="1">
                          <a:solidFill>
                            <a:schemeClr val="accent2">
                              <a:lumMod val="25000"/>
                            </a:schemeClr>
                          </a:solidFill>
                        </a:rPr>
                        <a:t>100</a:t>
                      </a:r>
                      <a:endParaRPr lang="en-IN" sz="2000" b="1" dirty="0">
                        <a:solidFill>
                          <a:schemeClr val="accent2">
                            <a:lumMod val="25000"/>
                          </a:schemeClr>
                        </a:solidFill>
                      </a:endParaRPr>
                    </a:p>
                  </a:txBody>
                  <a:tcPr/>
                </a:tc>
                <a:tc>
                  <a:txBody>
                    <a:bodyPr/>
                    <a:lstStyle/>
                    <a:p>
                      <a:pPr lvl="0" algn="ctr">
                        <a:buNone/>
                      </a:pPr>
                      <a:r>
                        <a:rPr lang="en-IN" sz="1800" b="0" i="0" u="none" strike="noStrike" noProof="0">
                          <a:latin typeface="Aptos"/>
                        </a:rPr>
                        <a:t>90%</a:t>
                      </a:r>
                    </a:p>
                  </a:txBody>
                  <a:tcPr/>
                </a:tc>
                <a:extLst>
                  <a:ext uri="{0D108BD9-81ED-4DB2-BD59-A6C34878D82A}">
                    <a16:rowId xmlns:a16="http://schemas.microsoft.com/office/drawing/2014/main" val="3812080466"/>
                  </a:ext>
                </a:extLst>
              </a:tr>
              <a:tr h="389793">
                <a:tc>
                  <a:txBody>
                    <a:bodyPr/>
                    <a:lstStyle/>
                    <a:p>
                      <a:pPr algn="ctr"/>
                      <a:r>
                        <a:rPr lang="en-IN" sz="2000" b="1">
                          <a:solidFill>
                            <a:schemeClr val="accent2">
                              <a:lumMod val="25000"/>
                            </a:schemeClr>
                          </a:solidFill>
                        </a:rPr>
                        <a:t>150</a:t>
                      </a:r>
                      <a:endParaRPr lang="en-IN" sz="2000" b="1" dirty="0">
                        <a:solidFill>
                          <a:schemeClr val="accent2">
                            <a:lumMod val="25000"/>
                          </a:schemeClr>
                        </a:solidFill>
                      </a:endParaRPr>
                    </a:p>
                  </a:txBody>
                  <a:tcPr/>
                </a:tc>
                <a:tc>
                  <a:txBody>
                    <a:bodyPr/>
                    <a:lstStyle/>
                    <a:p>
                      <a:pPr lvl="0" algn="ctr">
                        <a:buNone/>
                      </a:pPr>
                      <a:r>
                        <a:rPr lang="en-IN" sz="1800" b="0" i="0" u="none" strike="noStrike" noProof="0">
                          <a:latin typeface="Aptos"/>
                        </a:rPr>
                        <a:t>92.25%</a:t>
                      </a:r>
                    </a:p>
                  </a:txBody>
                  <a:tcPr/>
                </a:tc>
                <a:extLst>
                  <a:ext uri="{0D108BD9-81ED-4DB2-BD59-A6C34878D82A}">
                    <a16:rowId xmlns:a16="http://schemas.microsoft.com/office/drawing/2014/main" val="2845099047"/>
                  </a:ext>
                </a:extLst>
              </a:tr>
            </a:tbl>
          </a:graphicData>
        </a:graphic>
      </p:graphicFrame>
      <p:pic>
        <p:nvPicPr>
          <p:cNvPr id="15" name="Picture 14">
            <a:extLst>
              <a:ext uri="{FF2B5EF4-FFF2-40B4-BE49-F238E27FC236}">
                <a16:creationId xmlns:a16="http://schemas.microsoft.com/office/drawing/2014/main" id="{F88E0F94-2158-9AF5-2BFD-8E3D525414D6}"/>
              </a:ext>
            </a:extLst>
          </p:cNvPr>
          <p:cNvPicPr>
            <a:picLocks noChangeAspect="1"/>
          </p:cNvPicPr>
          <p:nvPr/>
        </p:nvPicPr>
        <p:blipFill>
          <a:blip r:embed="rId3"/>
          <a:stretch>
            <a:fillRect/>
          </a:stretch>
        </p:blipFill>
        <p:spPr>
          <a:xfrm>
            <a:off x="404398" y="3430510"/>
            <a:ext cx="11398597" cy="3131824"/>
          </a:xfrm>
          <a:prstGeom prst="rect">
            <a:avLst/>
          </a:prstGeom>
        </p:spPr>
      </p:pic>
    </p:spTree>
    <p:extLst>
      <p:ext uri="{BB962C8B-B14F-4D97-AF65-F5344CB8AC3E}">
        <p14:creationId xmlns:p14="http://schemas.microsoft.com/office/powerpoint/2010/main" val="1210802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4445685" y="297116"/>
            <a:ext cx="3300629" cy="713232"/>
          </a:xfrm>
          <a:noFill/>
        </p:spPr>
        <p:txBody>
          <a:bodyPr>
            <a:noAutofit/>
          </a:bodyPr>
          <a:lstStyle/>
          <a:p>
            <a:r>
              <a:rPr lang="en-US" dirty="0"/>
              <a:t>Test Results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idx="1"/>
          </p:nvPr>
        </p:nvSpPr>
        <p:spPr>
          <a:xfrm>
            <a:off x="3812551" y="1065023"/>
            <a:ext cx="4566896" cy="474851"/>
          </a:xfrm>
          <a:noFill/>
        </p:spPr>
        <p:txBody>
          <a:bodyPr vert="horz" lIns="91440" tIns="45720" rIns="91440" bIns="45720" rtlCol="0" anchor="t">
            <a:normAutofit/>
          </a:bodyPr>
          <a:lstStyle/>
          <a:p>
            <a:r>
              <a:rPr lang="en-US"/>
              <a:t>Final Test Accuracy: 97.14%</a:t>
            </a:r>
          </a:p>
        </p:txBody>
      </p:sp>
      <p:graphicFrame>
        <p:nvGraphicFramePr>
          <p:cNvPr id="3" name="Table Placeholder 2">
            <a:extLst>
              <a:ext uri="{FF2B5EF4-FFF2-40B4-BE49-F238E27FC236}">
                <a16:creationId xmlns:a16="http://schemas.microsoft.com/office/drawing/2014/main" id="{1469BF76-5E71-DF2A-4804-7A26E9D95C80}"/>
              </a:ext>
            </a:extLst>
          </p:cNvPr>
          <p:cNvGraphicFramePr>
            <a:graphicFrameLocks noGrp="1"/>
          </p:cNvGraphicFramePr>
          <p:nvPr>
            <p:ph idx="13"/>
            <p:extLst>
              <p:ext uri="{D42A27DB-BD31-4B8C-83A1-F6EECF244321}">
                <p14:modId xmlns:p14="http://schemas.microsoft.com/office/powerpoint/2010/main" val="3093267895"/>
              </p:ext>
            </p:extLst>
          </p:nvPr>
        </p:nvGraphicFramePr>
        <p:xfrm>
          <a:off x="276225" y="1790700"/>
          <a:ext cx="5953624" cy="3911066"/>
        </p:xfrm>
        <a:graphic>
          <a:graphicData uri="http://schemas.openxmlformats.org/drawingml/2006/table">
            <a:tbl>
              <a:tblPr firstRow="1" bandRow="1">
                <a:tableStyleId>{0E3FDE45-AF77-4B5C-9715-49D594BDF05E}</a:tableStyleId>
              </a:tblPr>
              <a:tblGrid>
                <a:gridCol w="1679943">
                  <a:extLst>
                    <a:ext uri="{9D8B030D-6E8A-4147-A177-3AD203B41FA5}">
                      <a16:colId xmlns:a16="http://schemas.microsoft.com/office/drawing/2014/main" val="30750867"/>
                    </a:ext>
                  </a:extLst>
                </a:gridCol>
                <a:gridCol w="2227770">
                  <a:extLst>
                    <a:ext uri="{9D8B030D-6E8A-4147-A177-3AD203B41FA5}">
                      <a16:colId xmlns:a16="http://schemas.microsoft.com/office/drawing/2014/main" val="1038941322"/>
                    </a:ext>
                  </a:extLst>
                </a:gridCol>
                <a:gridCol w="2045911">
                  <a:extLst>
                    <a:ext uri="{9D8B030D-6E8A-4147-A177-3AD203B41FA5}">
                      <a16:colId xmlns:a16="http://schemas.microsoft.com/office/drawing/2014/main" val="529645500"/>
                    </a:ext>
                  </a:extLst>
                </a:gridCol>
              </a:tblGrid>
              <a:tr h="699992">
                <a:tc>
                  <a:txBody>
                    <a:bodyPr/>
                    <a:lstStyle/>
                    <a:p>
                      <a:pPr lvl="0" algn="ctr">
                        <a:buNone/>
                      </a:pPr>
                      <a:r>
                        <a:rPr lang="en-US">
                          <a:solidFill>
                            <a:schemeClr val="accent2">
                              <a:lumMod val="25000"/>
                            </a:schemeClr>
                          </a:solidFill>
                        </a:rPr>
                        <a:t>Metric</a:t>
                      </a:r>
                      <a:endParaRPr lang="en-US"/>
                    </a:p>
                  </a:txBody>
                  <a:tcPr anchor="ctr"/>
                </a:tc>
                <a:tc>
                  <a:txBody>
                    <a:bodyPr/>
                    <a:lstStyle/>
                    <a:p>
                      <a:pPr lvl="0" algn="ctr">
                        <a:buNone/>
                      </a:pPr>
                      <a:r>
                        <a:rPr lang="en-US">
                          <a:solidFill>
                            <a:schemeClr val="accent2">
                              <a:lumMod val="25000"/>
                            </a:schemeClr>
                          </a:solidFill>
                        </a:rPr>
                        <a:t>Validation</a:t>
                      </a:r>
                      <a:endParaRPr lang="en-US"/>
                    </a:p>
                  </a:txBody>
                  <a:tcPr anchor="ctr"/>
                </a:tc>
                <a:tc>
                  <a:txBody>
                    <a:bodyPr/>
                    <a:lstStyle/>
                    <a:p>
                      <a:pPr lvl="0" algn="ctr">
                        <a:buNone/>
                      </a:pPr>
                      <a:r>
                        <a:rPr lang="en-US">
                          <a:solidFill>
                            <a:schemeClr val="accent2">
                              <a:lumMod val="25000"/>
                            </a:schemeClr>
                          </a:solidFill>
                        </a:rPr>
                        <a:t>Test</a:t>
                      </a:r>
                      <a:endParaRPr lang="en-US"/>
                    </a:p>
                  </a:txBody>
                  <a:tcPr anchor="ctr"/>
                </a:tc>
                <a:extLst>
                  <a:ext uri="{0D108BD9-81ED-4DB2-BD59-A6C34878D82A}">
                    <a16:rowId xmlns:a16="http://schemas.microsoft.com/office/drawing/2014/main" val="4251432886"/>
                  </a:ext>
                </a:extLst>
              </a:tr>
              <a:tr h="642215">
                <a:tc>
                  <a:txBody>
                    <a:bodyPr/>
                    <a:lstStyle/>
                    <a:p>
                      <a:pPr lvl="0" algn="ctr">
                        <a:buNone/>
                      </a:pPr>
                      <a:r>
                        <a:rPr lang="en-US">
                          <a:solidFill>
                            <a:schemeClr val="accent2">
                              <a:lumMod val="25000"/>
                            </a:schemeClr>
                          </a:solidFill>
                        </a:rPr>
                        <a:t>Precision</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96.84%</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97.14%</a:t>
                      </a:r>
                      <a:endParaRPr lang="en-US" sz="1800" b="0" i="0" u="none" strike="noStrike" noProof="0">
                        <a:latin typeface="Aptos"/>
                      </a:endParaRPr>
                    </a:p>
                  </a:txBody>
                  <a:tcPr anchor="ctr"/>
                </a:tc>
                <a:extLst>
                  <a:ext uri="{0D108BD9-81ED-4DB2-BD59-A6C34878D82A}">
                    <a16:rowId xmlns:a16="http://schemas.microsoft.com/office/drawing/2014/main" val="360240625"/>
                  </a:ext>
                </a:extLst>
              </a:tr>
              <a:tr h="642215">
                <a:tc>
                  <a:txBody>
                    <a:bodyPr/>
                    <a:lstStyle/>
                    <a:p>
                      <a:pPr lvl="0" algn="ctr">
                        <a:buNone/>
                      </a:pPr>
                      <a:r>
                        <a:rPr lang="en-US">
                          <a:solidFill>
                            <a:schemeClr val="accent2">
                              <a:lumMod val="25000"/>
                            </a:schemeClr>
                          </a:solidFill>
                        </a:rPr>
                        <a:t>Recall</a:t>
                      </a:r>
                      <a:endParaRPr lang="en-US" dirty="0">
                        <a:solidFill>
                          <a:schemeClr val="accent2">
                            <a:lumMod val="25000"/>
                          </a:schemeClr>
                        </a:solidFill>
                      </a:endParaRPr>
                    </a:p>
                  </a:txBody>
                  <a:tcPr anchor="ctr"/>
                </a:tc>
                <a:tc>
                  <a:txBody>
                    <a:bodyPr/>
                    <a:lstStyle/>
                    <a:p>
                      <a:pPr lvl="0" algn="ctr">
                        <a:buNone/>
                      </a:pPr>
                      <a:r>
                        <a:rPr lang="en-US" sz="1800" b="0" i="0" u="none" strike="noStrike" noProof="0">
                          <a:solidFill>
                            <a:schemeClr val="accent2">
                              <a:lumMod val="25000"/>
                            </a:schemeClr>
                          </a:solidFill>
                          <a:latin typeface="Aptos"/>
                        </a:rPr>
                        <a:t>92.08%</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96.97%</a:t>
                      </a:r>
                      <a:endParaRPr lang="en-US" sz="1800" b="0" i="0" u="none" strike="noStrike" noProof="0">
                        <a:latin typeface="Aptos"/>
                      </a:endParaRPr>
                    </a:p>
                  </a:txBody>
                  <a:tcPr anchor="ctr"/>
                </a:tc>
                <a:extLst>
                  <a:ext uri="{0D108BD9-81ED-4DB2-BD59-A6C34878D82A}">
                    <a16:rowId xmlns:a16="http://schemas.microsoft.com/office/drawing/2014/main" val="2762393470"/>
                  </a:ext>
                </a:extLst>
              </a:tr>
              <a:tr h="642215">
                <a:tc>
                  <a:txBody>
                    <a:bodyPr/>
                    <a:lstStyle/>
                    <a:p>
                      <a:pPr lvl="0" algn="ctr">
                        <a:buNone/>
                      </a:pPr>
                      <a:r>
                        <a:rPr lang="en-US" sz="1800" b="0" i="0" u="none" strike="noStrike" noProof="0">
                          <a:solidFill>
                            <a:schemeClr val="accent2">
                              <a:lumMod val="25000"/>
                            </a:schemeClr>
                          </a:solidFill>
                          <a:latin typeface="Aptos"/>
                        </a:rPr>
                        <a:t>mAP@0.5</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92.25%</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96.50%</a:t>
                      </a:r>
                      <a:endParaRPr lang="en-US" sz="1800" b="0" i="0" u="none" strike="noStrike" noProof="0">
                        <a:latin typeface="Aptos"/>
                      </a:endParaRPr>
                    </a:p>
                  </a:txBody>
                  <a:tcPr anchor="ctr"/>
                </a:tc>
                <a:extLst>
                  <a:ext uri="{0D108BD9-81ED-4DB2-BD59-A6C34878D82A}">
                    <a16:rowId xmlns:a16="http://schemas.microsoft.com/office/drawing/2014/main" val="1311364400"/>
                  </a:ext>
                </a:extLst>
              </a:tr>
              <a:tr h="642215">
                <a:tc>
                  <a:txBody>
                    <a:bodyPr/>
                    <a:lstStyle/>
                    <a:p>
                      <a:pPr lvl="0" algn="ctr">
                        <a:buNone/>
                      </a:pPr>
                      <a:r>
                        <a:rPr lang="en-US" sz="1800" b="0" i="0" u="none" strike="noStrike" noProof="0">
                          <a:solidFill>
                            <a:schemeClr val="accent2">
                              <a:lumMod val="25000"/>
                            </a:schemeClr>
                          </a:solidFill>
                          <a:latin typeface="Aptos"/>
                        </a:rPr>
                        <a:t>mAP@0.5:0.95</a:t>
                      </a:r>
                      <a:endParaRPr lang="en-US"/>
                    </a:p>
                  </a:txBody>
                  <a:tcPr anchor="ctr"/>
                </a:tc>
                <a:tc>
                  <a:txBody>
                    <a:bodyPr/>
                    <a:lstStyle/>
                    <a:p>
                      <a:pPr lvl="0" algn="ctr">
                        <a:buNone/>
                      </a:pPr>
                      <a:r>
                        <a:rPr lang="en-US" sz="1800" b="0" i="0" u="none" strike="noStrike" noProof="0" dirty="0">
                          <a:solidFill>
                            <a:schemeClr val="accent2">
                              <a:lumMod val="25000"/>
                            </a:schemeClr>
                          </a:solidFill>
                          <a:latin typeface="Aptos"/>
                        </a:rPr>
                        <a:t>63.21%</a:t>
                      </a:r>
                      <a:endParaRPr lang="en-US" dirty="0"/>
                    </a:p>
                  </a:txBody>
                  <a:tcPr anchor="ctr"/>
                </a:tc>
                <a:tc>
                  <a:txBody>
                    <a:bodyPr/>
                    <a:lstStyle/>
                    <a:p>
                      <a:pPr lvl="0" algn="ctr">
                        <a:buNone/>
                      </a:pPr>
                      <a:r>
                        <a:rPr lang="en-US" sz="1800" b="0" i="0" u="none" strike="noStrike" noProof="0">
                          <a:solidFill>
                            <a:schemeClr val="accent2">
                              <a:lumMod val="25000"/>
                            </a:schemeClr>
                          </a:solidFill>
                          <a:latin typeface="Aptos"/>
                        </a:rPr>
                        <a:t>66.69%</a:t>
                      </a:r>
                      <a:endParaRPr lang="en-US" sz="1800" b="0" i="0" u="none" strike="noStrike" noProof="0">
                        <a:latin typeface="Aptos"/>
                      </a:endParaRPr>
                    </a:p>
                  </a:txBody>
                  <a:tcPr anchor="ctr"/>
                </a:tc>
                <a:extLst>
                  <a:ext uri="{0D108BD9-81ED-4DB2-BD59-A6C34878D82A}">
                    <a16:rowId xmlns:a16="http://schemas.microsoft.com/office/drawing/2014/main" val="2526263980"/>
                  </a:ext>
                </a:extLst>
              </a:tr>
              <a:tr h="642214">
                <a:tc>
                  <a:txBody>
                    <a:bodyPr/>
                    <a:lstStyle/>
                    <a:p>
                      <a:pPr lvl="0" algn="ctr">
                        <a:buNone/>
                      </a:pPr>
                      <a:r>
                        <a:rPr lang="en-US" sz="1800" b="0" i="0" u="none" strike="noStrike" noProof="0">
                          <a:solidFill>
                            <a:schemeClr val="accent2">
                              <a:lumMod val="25000"/>
                            </a:schemeClr>
                          </a:solidFill>
                          <a:latin typeface="Aptos"/>
                        </a:rPr>
                        <a:t>F1 Score</a:t>
                      </a:r>
                      <a:endParaRPr lang="en-US"/>
                    </a:p>
                  </a:txBody>
                  <a:tcPr anchor="ctr"/>
                </a:tc>
                <a:tc>
                  <a:txBody>
                    <a:bodyPr/>
                    <a:lstStyle/>
                    <a:p>
                      <a:pPr lvl="0" algn="ctr">
                        <a:buNone/>
                      </a:pPr>
                      <a:r>
                        <a:rPr lang="en-US" sz="1800" b="0" i="0" u="none" strike="noStrike" noProof="0">
                          <a:solidFill>
                            <a:schemeClr val="accent2">
                              <a:lumMod val="25000"/>
                            </a:schemeClr>
                          </a:solidFill>
                          <a:latin typeface="Aptos"/>
                        </a:rPr>
                        <a:t>94.40%</a:t>
                      </a:r>
                      <a:endParaRPr lang="en-US"/>
                    </a:p>
                  </a:txBody>
                  <a:tcPr anchor="ctr"/>
                </a:tc>
                <a:tc>
                  <a:txBody>
                    <a:bodyPr/>
                    <a:lstStyle/>
                    <a:p>
                      <a:pPr lvl="0" algn="ctr">
                        <a:buNone/>
                      </a:pPr>
                      <a:r>
                        <a:rPr lang="en-US" sz="1800" b="0" i="0" u="none" strike="noStrike" noProof="0" dirty="0">
                          <a:solidFill>
                            <a:schemeClr val="accent2">
                              <a:lumMod val="25000"/>
                            </a:schemeClr>
                          </a:solidFill>
                          <a:latin typeface="Aptos"/>
                        </a:rPr>
                        <a:t>97.05%</a:t>
                      </a:r>
                      <a:endParaRPr lang="en-US" dirty="0"/>
                    </a:p>
                  </a:txBody>
                  <a:tcPr anchor="ctr"/>
                </a:tc>
                <a:extLst>
                  <a:ext uri="{0D108BD9-81ED-4DB2-BD59-A6C34878D82A}">
                    <a16:rowId xmlns:a16="http://schemas.microsoft.com/office/drawing/2014/main" val="2198510764"/>
                  </a:ext>
                </a:extLst>
              </a:tr>
            </a:tbl>
          </a:graphicData>
        </a:graphic>
      </p:graphicFrame>
      <p:sp>
        <p:nvSpPr>
          <p:cNvPr id="9" name="Slide Number Placeholder 8">
            <a:extLst>
              <a:ext uri="{FF2B5EF4-FFF2-40B4-BE49-F238E27FC236}">
                <a16:creationId xmlns:a16="http://schemas.microsoft.com/office/drawing/2014/main" id="{DAF3F922-669F-7D93-0C1C-D5B16E3975BF}"/>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pic>
        <p:nvPicPr>
          <p:cNvPr id="5" name="Picture 4" descr="A blue squares with white text&#10;&#10;AI-generated content may be incorrect.">
            <a:extLst>
              <a:ext uri="{FF2B5EF4-FFF2-40B4-BE49-F238E27FC236}">
                <a16:creationId xmlns:a16="http://schemas.microsoft.com/office/drawing/2014/main" id="{C387D7F6-21E6-8EF1-D653-793AE0BD97C7}"/>
              </a:ext>
            </a:extLst>
          </p:cNvPr>
          <p:cNvPicPr>
            <a:picLocks noChangeAspect="1"/>
          </p:cNvPicPr>
          <p:nvPr/>
        </p:nvPicPr>
        <p:blipFill>
          <a:blip r:embed="rId3"/>
          <a:stretch>
            <a:fillRect/>
          </a:stretch>
        </p:blipFill>
        <p:spPr>
          <a:xfrm>
            <a:off x="6477126" y="1790134"/>
            <a:ext cx="5440590" cy="4028055"/>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078992" y="365760"/>
            <a:ext cx="10277856" cy="780134"/>
          </a:xfrm>
          <a:noFill/>
        </p:spPr>
        <p:txBody>
          <a:bodyPr>
            <a:noAutofit/>
          </a:bodyPr>
          <a:lstStyle/>
          <a:p>
            <a:r>
              <a:rPr lang="en-GB" dirty="0"/>
              <a:t>Error Modes and How we Overcame It</a:t>
            </a:r>
            <a:endParaRPr lang="en-US" dirty="0"/>
          </a:p>
        </p:txBody>
      </p:sp>
      <p:sp>
        <p:nvSpPr>
          <p:cNvPr id="3" name="Slide Number Placeholder 2">
            <a:extLst>
              <a:ext uri="{FF2B5EF4-FFF2-40B4-BE49-F238E27FC236}">
                <a16:creationId xmlns:a16="http://schemas.microsoft.com/office/drawing/2014/main" id="{CAEAF320-61B9-87FA-4DF5-7C3B0DC125A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pic>
        <p:nvPicPr>
          <p:cNvPr id="16" name="Content Placeholder 15" descr="A group of colorful triangular objects&#10;&#10;AI-generated content may be incorrect.">
            <a:extLst>
              <a:ext uri="{FF2B5EF4-FFF2-40B4-BE49-F238E27FC236}">
                <a16:creationId xmlns:a16="http://schemas.microsoft.com/office/drawing/2014/main" id="{D0839670-47BF-EF65-99D6-6470D2C4C6AA}"/>
              </a:ext>
            </a:extLst>
          </p:cNvPr>
          <p:cNvPicPr>
            <a:picLocks noGrp="1" noChangeAspect="1"/>
          </p:cNvPicPr>
          <p:nvPr>
            <p:ph idx="13"/>
          </p:nvPr>
        </p:nvPicPr>
        <p:blipFill>
          <a:blip r:embed="rId3"/>
          <a:stretch>
            <a:fillRect/>
          </a:stretch>
        </p:blipFill>
        <p:spPr>
          <a:xfrm>
            <a:off x="1955646" y="1428077"/>
            <a:ext cx="2105662" cy="3744671"/>
          </a:xfrm>
          <a:prstGeom prst="rect">
            <a:avLst/>
          </a:prstGeom>
        </p:spPr>
      </p:pic>
      <p:sp>
        <p:nvSpPr>
          <p:cNvPr id="19" name="TextBox 18">
            <a:extLst>
              <a:ext uri="{FF2B5EF4-FFF2-40B4-BE49-F238E27FC236}">
                <a16:creationId xmlns:a16="http://schemas.microsoft.com/office/drawing/2014/main" id="{5C4F1D6F-D1FA-CF10-DFC1-50C208252DE9}"/>
              </a:ext>
            </a:extLst>
          </p:cNvPr>
          <p:cNvSpPr txBox="1"/>
          <p:nvPr/>
        </p:nvSpPr>
        <p:spPr>
          <a:xfrm>
            <a:off x="6901545" y="4994702"/>
            <a:ext cx="3883402" cy="1107996"/>
          </a:xfrm>
          <a:prstGeom prst="rect">
            <a:avLst/>
          </a:prstGeom>
          <a:noFill/>
        </p:spPr>
        <p:txBody>
          <a:bodyPr wrap="square" lIns="91440" tIns="45720" rIns="91440" bIns="45720" rtlCol="0" anchor="t">
            <a:spAutoFit/>
          </a:bodyPr>
          <a:lstStyle/>
          <a:p>
            <a:r>
              <a:rPr lang="en-GB" sz="2400" dirty="0">
                <a:solidFill>
                  <a:schemeClr val="accent2">
                    <a:lumMod val="25000"/>
                  </a:schemeClr>
                </a:solidFill>
                <a:ea typeface="+mn-lt"/>
                <a:cs typeface="+mn-lt"/>
              </a:rPr>
              <a:t>a cone with two overlapping bounding boxes </a:t>
            </a:r>
            <a:endParaRPr lang="en-US" dirty="0"/>
          </a:p>
          <a:p>
            <a:endParaRPr lang="en-IN" dirty="0">
              <a:solidFill>
                <a:schemeClr val="accent2">
                  <a:lumMod val="25000"/>
                </a:schemeClr>
              </a:solidFill>
            </a:endParaRPr>
          </a:p>
        </p:txBody>
      </p:sp>
      <p:pic>
        <p:nvPicPr>
          <p:cNvPr id="21" name="Picture 20" descr="A yellow cone on a table&#10;&#10;AI-generated content may be incorrect.">
            <a:extLst>
              <a:ext uri="{FF2B5EF4-FFF2-40B4-BE49-F238E27FC236}">
                <a16:creationId xmlns:a16="http://schemas.microsoft.com/office/drawing/2014/main" id="{3321657F-5664-9818-6A11-9BCFB1EB5703}"/>
              </a:ext>
            </a:extLst>
          </p:cNvPr>
          <p:cNvPicPr>
            <a:picLocks noChangeAspect="1"/>
          </p:cNvPicPr>
          <p:nvPr/>
        </p:nvPicPr>
        <p:blipFill>
          <a:blip r:embed="rId4"/>
          <a:stretch>
            <a:fillRect/>
          </a:stretch>
        </p:blipFill>
        <p:spPr>
          <a:xfrm>
            <a:off x="6217920" y="1800126"/>
            <a:ext cx="4818080" cy="2734273"/>
          </a:xfrm>
          <a:prstGeom prst="rect">
            <a:avLst/>
          </a:prstGeom>
          <a:solidFill>
            <a:srgbClr val="FFFFFF">
              <a:shade val="85000"/>
            </a:srgbClr>
          </a:solidFill>
          <a:ln w="63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TextBox 21">
            <a:extLst>
              <a:ext uri="{FF2B5EF4-FFF2-40B4-BE49-F238E27FC236}">
                <a16:creationId xmlns:a16="http://schemas.microsoft.com/office/drawing/2014/main" id="{1FC33606-FB0C-662B-F687-386C39B05DA2}"/>
              </a:ext>
            </a:extLst>
          </p:cNvPr>
          <p:cNvSpPr txBox="1"/>
          <p:nvPr/>
        </p:nvSpPr>
        <p:spPr>
          <a:xfrm>
            <a:off x="1082249" y="5465631"/>
            <a:ext cx="4208208" cy="830997"/>
          </a:xfrm>
          <a:prstGeom prst="rect">
            <a:avLst/>
          </a:prstGeom>
          <a:noFill/>
        </p:spPr>
        <p:txBody>
          <a:bodyPr wrap="square" lIns="91440" tIns="45720" rIns="91440" bIns="45720" rtlCol="0" anchor="t">
            <a:spAutoFit/>
          </a:bodyPr>
          <a:lstStyle/>
          <a:p>
            <a:r>
              <a:rPr lang="en-GB" sz="2400" dirty="0">
                <a:solidFill>
                  <a:schemeClr val="accent2">
                    <a:lumMod val="25000"/>
                  </a:schemeClr>
                </a:solidFill>
                <a:ea typeface="+mn-lt"/>
                <a:cs typeface="+mn-lt"/>
              </a:rPr>
              <a:t>a scene where a corner cone is "missed“ or Not Detected</a:t>
            </a:r>
            <a:endParaRPr lang="en-US" dirty="0"/>
          </a:p>
        </p:txBody>
      </p:sp>
    </p:spTree>
    <p:extLst>
      <p:ext uri="{BB962C8B-B14F-4D97-AF65-F5344CB8AC3E}">
        <p14:creationId xmlns:p14="http://schemas.microsoft.com/office/powerpoint/2010/main" val="3604630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3506666" y="1248643"/>
            <a:ext cx="9912096" cy="2743200"/>
          </a:xfrm>
          <a:noFill/>
        </p:spPr>
        <p:txBody>
          <a:bodyPr anchor="b">
            <a:noAutofit/>
          </a:bodyPr>
          <a:lstStyle/>
          <a:p>
            <a:r>
              <a:rPr lang="en-US" dirty="0"/>
              <a:t>Thank you</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A9B47F-3DD8-4645-81DC-B88780643C07}">
  <ds:schemaRefs>
    <ds:schemaRef ds:uri="http://schemas.microsoft.com/office/2006/metadata/properties"/>
    <ds:schemaRef ds:uri="http://www.w3.org/2000/xmlns/"/>
    <ds:schemaRef ds:uri="71af3243-3dd4-4a8d-8c0d-dd76da1f02a5"/>
    <ds:schemaRef ds:uri="http://www.w3.org/2001/XMLSchema-instance"/>
    <ds:schemaRef ds:uri="http://schemas.microsoft.com/sharepoint/v3"/>
    <ds:schemaRef ds:uri="http://schemas.microsoft.com/office/infopath/2007/PartnerControls"/>
    <ds:schemaRef ds:uri="230e9df3-be65-4c73-a93b-d1236ebd677e"/>
  </ds:schemaRefs>
</ds:datastoreItem>
</file>

<file path=customXml/itemProps2.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C07E3D-60A7-4F4E-8208-D9CCD01982C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1045</TotalTime>
  <Words>980</Words>
  <Application>Microsoft Office PowerPoint</Application>
  <PresentationFormat>Widescreen</PresentationFormat>
  <Paragraphs>137</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Book Antiqua</vt:lpstr>
      <vt:lpstr>Bookman Old Style</vt:lpstr>
      <vt:lpstr>Calibri</vt:lpstr>
      <vt:lpstr>Consolas</vt:lpstr>
      <vt:lpstr>Times New Roman</vt:lpstr>
      <vt:lpstr>Custom</vt:lpstr>
      <vt:lpstr>Colored Cone Detection Using YOLOv8</vt:lpstr>
      <vt:lpstr>PowerPoint Presentation</vt:lpstr>
      <vt:lpstr>Dataset Overview</vt:lpstr>
      <vt:lpstr>Data Annotations using Roboflow</vt:lpstr>
      <vt:lpstr>Preprocessing &amp; Augmentation</vt:lpstr>
      <vt:lpstr>Training Setup</vt:lpstr>
      <vt:lpstr>PowerPoint Presentation</vt:lpstr>
      <vt:lpstr>Test Results</vt:lpstr>
      <vt:lpstr>Error Modes and How we Overcame It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Image Classification Using Convolutional Neural Networks</dc:title>
  <dc:creator>G Bhanu Vignesh Naidu</dc:creator>
  <cp:lastModifiedBy>G Bhanu Vignesh Naidu</cp:lastModifiedBy>
  <cp:revision>265</cp:revision>
  <dcterms:created xsi:type="dcterms:W3CDTF">2026-03-22T15:38:04Z</dcterms:created>
  <dcterms:modified xsi:type="dcterms:W3CDTF">2026-04-14T07:40:17Z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